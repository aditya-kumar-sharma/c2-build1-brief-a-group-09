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the question and the claim, nothing else. Twenty seconds. The cover is read, not presented.</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minute. Her words first, then the translation in one line, then the decision. If the panel does not know what decision hangs on your answer by the end of this slide, nothing after it matters.</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Ninety seconds. Point at two numbers on the picture, the two that carry the claim. Do not read the diagram aloud.</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306e685462b291a3_1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306e685462b291a3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the sentence. Stop. Count to two. The silence is the point; the slide has one sentence on it so the room reads it twice.</a:t>
            </a:r>
            <a:endParaRPr/>
          </a:p>
        </p:txBody>
      </p:sp>
      <p:sp>
        <p:nvSpPr>
          <p:cNvPr id="145" name="Google Shape;14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minutes. Each number with its denominator, said aloud. Point at the chart's axis label where the denominator is written. This is the slide the finance controller checks against the decisions log.</a:t>
            </a:r>
            <a:endParaRPr/>
          </a:p>
        </p:txBody>
      </p:sp>
      <p:sp>
        <p:nvSpPr>
          <p:cNvPr id="158" name="Google Shape;15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Ninety seconds. One caveat, chosen, with its size. One rejected alternative from the approach log. This slide is where the panel decides whether you thought or just computed.</a:t>
            </a:r>
            <a:endParaRPr/>
          </a:p>
        </p:txBody>
      </p:sp>
      <p:sp>
        <p:nvSpPr>
          <p:cNvPr id="172" name="Google Shape;172;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minute. End on the cost of being wrong. No thanks, no summary, no inspirational closing line. Then say 'questions' and stop talking.</a:t>
            </a:r>
            <a:endParaRPr/>
          </a:p>
        </p:txBody>
      </p:sp>
      <p:sp>
        <p:nvSpPr>
          <p:cNvPr id="184" name="Google Shape;184;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this up during questions. When asked 'why this and not that', open the approach-log row on screen rather than answering from memory.</a:t>
            </a:r>
            <a:endParaRPr/>
          </a:p>
        </p:txBody>
      </p:sp>
      <p:sp>
        <p:nvSpPr>
          <p:cNvPr id="196" name="Google Shape;196;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slide: shown only if the panel asks. Do not present it.</a:t>
            </a:r>
            <a:endParaRPr/>
          </a:p>
        </p:txBody>
      </p:sp>
      <p:sp>
        <p:nvSpPr>
          <p:cNvPr id="204" name="Google Shape;204;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slide: shown only if the panel asks. Do not present it.</a:t>
            </a:r>
            <a:endParaRPr/>
          </a:p>
        </p:txBody>
      </p:sp>
      <p:sp>
        <p:nvSpPr>
          <p:cNvPr id="216" name="Google Shape;216;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slide, Brief E link: shown only if the panel asks about the free home collection offer.</a:t>
            </a:r>
            <a:endParaRPr/>
          </a:p>
        </p:txBody>
      </p:sp>
      <p:sp>
        <p:nvSpPr>
          <p:cNvPr id="228" name="Google Shape;22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slide: the 13.4 points by city, channel and source. Shown only if the panel asks where the gap sits.</a:t>
            </a:r>
            <a:endParaRPr/>
          </a:p>
        </p:txBody>
      </p:sp>
      <p:sp>
        <p:nvSpPr>
          <p:cNvPr id="241" name="Google Shape;241;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306e685462b291a3_1_1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h306e685462b291a3_1_1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slide: the 13.4 points by city, channel and source. Shown only if the panel asks where the gap sits.</a:t>
            </a:r>
            <a:endParaRPr/>
          </a:p>
        </p:txBody>
      </p:sp>
      <p:sp>
        <p:nvSpPr>
          <p:cNvPr id="254" name="Google Shape;254;h306e685462b291a3_1_1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306e685462b291a3_1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h306e685462b291a3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github.com/Aditya-Kumar-Sharma/c2-build1-brief-a-group-0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26027"/>
            <a:ext cx="12191700" cy="6858000"/>
          </a:xfrm>
          <a:prstGeom prst="roundRect">
            <a:avLst>
              <a:gd fmla="val 8000" name="adj"/>
            </a:avLst>
          </a:prstGeom>
          <a:solidFill>
            <a:srgbClr val="1A0F5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itgn_seal.png" id="86" name="Google Shape;86;p13"/>
          <p:cNvPicPr preferRelativeResize="0"/>
          <p:nvPr/>
        </p:nvPicPr>
        <p:blipFill rotWithShape="1">
          <a:blip r:embed="rId3">
            <a:alphaModFix/>
          </a:blip>
          <a:srcRect b="0" l="0" r="0" t="0"/>
          <a:stretch/>
        </p:blipFill>
        <p:spPr>
          <a:xfrm>
            <a:off x="548640" y="457200"/>
            <a:ext cx="914400" cy="914400"/>
          </a:xfrm>
          <a:prstGeom prst="rect">
            <a:avLst/>
          </a:prstGeom>
          <a:noFill/>
          <a:ln>
            <a:noFill/>
          </a:ln>
        </p:spPr>
      </p:pic>
      <p:sp>
        <p:nvSpPr>
          <p:cNvPr id="87" name="Google Shape;87;p13"/>
          <p:cNvSpPr txBox="1"/>
          <p:nvPr/>
        </p:nvSpPr>
        <p:spPr>
          <a:xfrm>
            <a:off x="1645920" y="502920"/>
            <a:ext cx="822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INDIAN INSTITUTE OF TECHNOLOGY GANDHINAGAR</a:t>
            </a:r>
            <a:endParaRPr/>
          </a:p>
        </p:txBody>
      </p:sp>
      <p:sp>
        <p:nvSpPr>
          <p:cNvPr id="88" name="Google Shape;88;p13"/>
          <p:cNvSpPr txBox="1"/>
          <p:nvPr/>
        </p:nvSpPr>
        <p:spPr>
          <a:xfrm>
            <a:off x="1645920" y="868680"/>
            <a:ext cx="822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D9A7FF"/>
                </a:solidFill>
                <a:latin typeface="Arial"/>
                <a:ea typeface="Arial"/>
                <a:cs typeface="Arial"/>
                <a:sym typeface="Arial"/>
              </a:rPr>
              <a:t>PG Diploma in AI-ML and Agentic AI Engineering · Cohort 2 · Build 1</a:t>
            </a:r>
            <a:endParaRPr/>
          </a:p>
        </p:txBody>
      </p:sp>
      <p:sp>
        <p:nvSpPr>
          <p:cNvPr id="89" name="Google Shape;89;p13"/>
          <p:cNvSpPr txBox="1"/>
          <p:nvPr/>
        </p:nvSpPr>
        <p:spPr>
          <a:xfrm>
            <a:off x="548640" y="2194560"/>
            <a:ext cx="109728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E9B04C"/>
                </a:solidFill>
                <a:latin typeface="Arial"/>
                <a:ea typeface="Arial"/>
                <a:cs typeface="Arial"/>
                <a:sym typeface="Arial"/>
              </a:rPr>
              <a:t>BRIEF A · GROWTH · GROUP </a:t>
            </a:r>
            <a:r>
              <a:rPr b="1" lang="en-US" sz="1200">
                <a:solidFill>
                  <a:srgbClr val="E9B04C"/>
                </a:solidFill>
              </a:rPr>
              <a:t>9</a:t>
            </a:r>
            <a:endParaRPr/>
          </a:p>
        </p:txBody>
      </p:sp>
      <p:sp>
        <p:nvSpPr>
          <p:cNvPr id="90" name="Google Shape;90;p13"/>
          <p:cNvSpPr txBox="1"/>
          <p:nvPr/>
        </p:nvSpPr>
        <p:spPr>
          <a:xfrm>
            <a:off x="548640" y="2651760"/>
            <a:ext cx="10972800" cy="1463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Georgia"/>
                <a:ea typeface="Georgia"/>
                <a:cs typeface="Georgia"/>
                <a:sym typeface="Georgia"/>
              </a:rPr>
              <a:t>Which part of Kalpa Health's business is short?</a:t>
            </a:r>
            <a:endParaRPr/>
          </a:p>
        </p:txBody>
      </p:sp>
      <p:sp>
        <p:nvSpPr>
          <p:cNvPr id="91" name="Google Shape;91;p13"/>
          <p:cNvSpPr txBox="1"/>
          <p:nvPr/>
        </p:nvSpPr>
        <p:spPr>
          <a:xfrm>
            <a:off x="548640" y="4206240"/>
            <a:ext cx="100584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DCD6F7"/>
                </a:solidFill>
                <a:latin typeface="Arial"/>
                <a:ea typeface="Arial"/>
                <a:cs typeface="Arial"/>
                <a:sym typeface="Arial"/>
              </a:rPr>
              <a:t>Test volume grew 5.0% (457,230 vs 435,430 tests, H1 2026 vs H1 2025, six cities) against a plan of 18.4%. The shortfall sits in the clinic channel (−11.9%), while home collection grew 37.5%.</a:t>
            </a:r>
            <a:endParaRPr/>
          </a:p>
        </p:txBody>
      </p:sp>
      <p:sp>
        <p:nvSpPr>
          <p:cNvPr id="92" name="Google Shape;92;p13"/>
          <p:cNvSpPr txBox="1"/>
          <p:nvPr/>
        </p:nvSpPr>
        <p:spPr>
          <a:xfrm>
            <a:off x="548640" y="5852160"/>
            <a:ext cx="109728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E9B04C"/>
                </a:solidFill>
                <a:latin typeface="Arial"/>
                <a:ea typeface="Arial"/>
                <a:cs typeface="Arial"/>
                <a:sym typeface="Arial"/>
              </a:rPr>
              <a:t>[</a:t>
            </a:r>
            <a:r>
              <a:rPr b="1" lang="en-US" sz="1200">
                <a:solidFill>
                  <a:srgbClr val="E9B04C"/>
                </a:solidFill>
              </a:rPr>
              <a:t>Nisha Kherala</a:t>
            </a:r>
            <a:r>
              <a:rPr b="1" i="0" lang="en-US" sz="1200" u="none" cap="none" strike="noStrike">
                <a:solidFill>
                  <a:srgbClr val="E9B04C"/>
                </a:solidFill>
                <a:latin typeface="Arial"/>
                <a:ea typeface="Arial"/>
                <a:cs typeface="Arial"/>
                <a:sym typeface="Arial"/>
              </a:rPr>
              <a:t>]</a:t>
            </a:r>
            <a:r>
              <a:rPr b="0" i="0" lang="en-US" sz="1200" u="none" cap="none" strike="noStrike">
                <a:solidFill>
                  <a:srgbClr val="B9B0E6"/>
                </a:solidFill>
                <a:latin typeface="Arial"/>
                <a:ea typeface="Arial"/>
                <a:cs typeface="Arial"/>
                <a:sym typeface="Arial"/>
              </a:rPr>
              <a:t> · </a:t>
            </a:r>
            <a:r>
              <a:rPr b="1" i="0" lang="en-US" sz="1200" u="none" cap="none" strike="noStrike">
                <a:solidFill>
                  <a:srgbClr val="E9B04C"/>
                </a:solidFill>
                <a:latin typeface="Arial"/>
                <a:ea typeface="Arial"/>
                <a:cs typeface="Arial"/>
                <a:sym typeface="Arial"/>
              </a:rPr>
              <a:t>[Aditya Kr Sharma</a:t>
            </a:r>
            <a:r>
              <a:rPr b="1" lang="en-US" sz="1200">
                <a:solidFill>
                  <a:srgbClr val="E9B04C"/>
                </a:solidFill>
              </a:rPr>
              <a:t>]</a:t>
            </a:r>
            <a:r>
              <a:rPr b="0" i="0" lang="en-US" sz="1200" u="none" cap="none" strike="noStrike">
                <a:solidFill>
                  <a:srgbClr val="B9B0E6"/>
                </a:solidFill>
                <a:latin typeface="Arial"/>
                <a:ea typeface="Arial"/>
                <a:cs typeface="Arial"/>
                <a:sym typeface="Arial"/>
              </a:rPr>
              <a:t> · </a:t>
            </a:r>
            <a:r>
              <a:rPr b="1" i="0" lang="en-US" sz="1200" u="none" cap="none" strike="noStrike">
                <a:solidFill>
                  <a:srgbClr val="E9B04C"/>
                </a:solidFill>
                <a:latin typeface="Arial"/>
                <a:ea typeface="Arial"/>
                <a:cs typeface="Arial"/>
                <a:sym typeface="Arial"/>
              </a:rPr>
              <a:t>[</a:t>
            </a:r>
            <a:r>
              <a:rPr b="1" lang="en-US" sz="1200">
                <a:solidFill>
                  <a:srgbClr val="E9B04C"/>
                </a:solidFill>
              </a:rPr>
              <a:t>Vasudev Kamath Mundkur</a:t>
            </a:r>
            <a:r>
              <a:rPr b="1" i="0" lang="en-US" sz="1200" u="none" cap="none" strike="noStrike">
                <a:solidFill>
                  <a:srgbClr val="E9B04C"/>
                </a:solidFill>
                <a:latin typeface="Arial"/>
                <a:ea typeface="Arial"/>
                <a:cs typeface="Arial"/>
                <a:sym typeface="Arial"/>
              </a:rPr>
              <a:t>]</a:t>
            </a:r>
            <a:r>
              <a:rPr b="0" i="0" lang="en-US" sz="1200" u="none" cap="none" strike="noStrike">
                <a:solidFill>
                  <a:srgbClr val="B9B0E6"/>
                </a:solidFill>
                <a:latin typeface="Arial"/>
                <a:ea typeface="Arial"/>
                <a:cs typeface="Arial"/>
                <a:sym typeface="Aria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4"/>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1 · THE QUESTION</a:t>
            </a:r>
            <a:endParaRPr/>
          </a:p>
        </p:txBody>
      </p:sp>
      <p:sp>
        <p:nvSpPr>
          <p:cNvPr id="100" name="Google Shape;100;p14"/>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1 / 6</a:t>
            </a:r>
            <a:endParaRPr/>
          </a:p>
        </p:txBody>
      </p:sp>
      <p:pic>
        <p:nvPicPr>
          <p:cNvPr descr="iitgn_seal.png" id="101" name="Google Shape;101;p14"/>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102" name="Google Shape;102;p14"/>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103" name="Google Shape;103;p14"/>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A1440"/>
                </a:solidFill>
                <a:latin typeface="Georgia"/>
                <a:ea typeface="Georgia"/>
                <a:cs typeface="Georgia"/>
                <a:sym typeface="Georgia"/>
              </a:rPr>
              <a:t>The question: where did the 13 points go?</a:t>
            </a:r>
            <a:endParaRPr/>
          </a:p>
        </p:txBody>
      </p:sp>
      <p:sp>
        <p:nvSpPr>
          <p:cNvPr id="104" name="Google Shape;104;p14"/>
          <p:cNvSpPr txBox="1"/>
          <p:nvPr/>
        </p:nvSpPr>
        <p:spPr>
          <a:xfrm>
            <a:off x="457200" y="1645920"/>
            <a:ext cx="11247000" cy="420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A1440"/>
                </a:solidFill>
                <a:latin typeface="Arial"/>
                <a:ea typeface="Arial"/>
                <a:cs typeface="Arial"/>
                <a:sym typeface="Arial"/>
              </a:rPr>
              <a:t>Her words:</a:t>
            </a:r>
            <a:endParaRPr/>
          </a:p>
          <a:p>
            <a:pPr indent="0" lvl="0" marL="0" marR="0" rtl="0" algn="l">
              <a:spcBef>
                <a:spcPts val="400"/>
              </a:spcBef>
              <a:spcAft>
                <a:spcPts val="0"/>
              </a:spcAft>
              <a:buNone/>
            </a:pPr>
            <a:r>
              <a:rPr b="0" i="0" lang="en-US" sz="1700" u="none" cap="none" strike="noStrike">
                <a:solidFill>
                  <a:srgbClr val="1A1440"/>
                </a:solidFill>
                <a:latin typeface="Arial"/>
                <a:ea typeface="Arial"/>
                <a:cs typeface="Arial"/>
                <a:sym typeface="Arial"/>
              </a:rPr>
              <a:t>“Show me the part of my business that is short, by how much, and where.”</a:t>
            </a:r>
            <a:endParaRPr/>
          </a:p>
          <a:p>
            <a:pPr indent="0" lvl="0" marL="0" marR="0" rtl="0" algn="l">
              <a:spcBef>
                <a:spcPts val="400"/>
              </a:spcBef>
              <a:spcAft>
                <a:spcPts val="0"/>
              </a:spcAft>
              <a:buNone/>
            </a:pPr>
            <a:r>
              <a:t/>
            </a:r>
            <a:endParaRPr b="0" i="0" sz="1700" u="none" cap="none" strike="noStrike">
              <a:solidFill>
                <a:srgbClr val="1A1440"/>
              </a:solidFill>
              <a:latin typeface="Arial"/>
              <a:ea typeface="Arial"/>
              <a:cs typeface="Arial"/>
              <a:sym typeface="Arial"/>
            </a:endParaRPr>
          </a:p>
          <a:p>
            <a:pPr indent="0" lvl="0" marL="0" marR="0" rtl="0" algn="l">
              <a:spcBef>
                <a:spcPts val="400"/>
              </a:spcBef>
              <a:spcAft>
                <a:spcPts val="0"/>
              </a:spcAft>
              <a:buNone/>
            </a:pPr>
            <a:r>
              <a:rPr b="1" i="0" lang="en-US" sz="1700" u="none" cap="none" strike="noStrike">
                <a:solidFill>
                  <a:srgbClr val="1A1440"/>
                </a:solidFill>
                <a:latin typeface="Arial"/>
                <a:ea typeface="Arial"/>
                <a:cs typeface="Arial"/>
                <a:sym typeface="Arial"/>
              </a:rPr>
              <a:t>Our translation:</a:t>
            </a:r>
            <a:endParaRPr/>
          </a:p>
          <a:p>
            <a:pPr indent="0" lvl="0" marL="0" marR="0" rtl="0" algn="l">
              <a:spcBef>
                <a:spcPts val="400"/>
              </a:spcBef>
              <a:spcAft>
                <a:spcPts val="0"/>
              </a:spcAft>
              <a:buNone/>
            </a:pPr>
            <a:r>
              <a:rPr b="0" i="0" lang="en-US" sz="1700" u="none" cap="none" strike="noStrike">
                <a:solidFill>
                  <a:srgbClr val="1A1440"/>
                </a:solidFill>
                <a:latin typeface="Arial"/>
                <a:ea typeface="Arial"/>
                <a:cs typeface="Arial"/>
                <a:sym typeface="Arial"/>
              </a:rPr>
              <a:t>The tree: tests = patients × visits per patient × tests per visit, H1 2026 against H1 2025, then split by city and channel and set against the plan (set per city on last year's volume).</a:t>
            </a:r>
            <a:endParaRPr/>
          </a:p>
          <a:p>
            <a:pPr indent="0" lvl="0" marL="0" marR="0" rtl="0" algn="l">
              <a:spcBef>
                <a:spcPts val="400"/>
              </a:spcBef>
              <a:spcAft>
                <a:spcPts val="0"/>
              </a:spcAft>
              <a:buNone/>
            </a:pPr>
            <a:r>
              <a:t/>
            </a:r>
            <a:endParaRPr b="0" i="0" sz="1700" u="none" cap="none" strike="noStrike">
              <a:solidFill>
                <a:srgbClr val="1A1440"/>
              </a:solidFill>
              <a:latin typeface="Arial"/>
              <a:ea typeface="Arial"/>
              <a:cs typeface="Arial"/>
              <a:sym typeface="Arial"/>
            </a:endParaRPr>
          </a:p>
          <a:p>
            <a:pPr indent="0" lvl="0" marL="0" marR="0" rtl="0" algn="l">
              <a:spcBef>
                <a:spcPts val="400"/>
              </a:spcBef>
              <a:spcAft>
                <a:spcPts val="0"/>
              </a:spcAft>
              <a:buNone/>
            </a:pPr>
            <a:r>
              <a:rPr b="1" i="0" lang="en-US" sz="1700" u="none" cap="none" strike="noStrike">
                <a:solidFill>
                  <a:srgbClr val="1A1440"/>
                </a:solidFill>
                <a:latin typeface="Arial"/>
                <a:ea typeface="Arial"/>
                <a:cs typeface="Arial"/>
                <a:sym typeface="Arial"/>
              </a:rPr>
              <a:t>The decision it drives:</a:t>
            </a:r>
            <a:endParaRPr/>
          </a:p>
          <a:p>
            <a:pPr indent="0" lvl="0" marL="0" marR="0" rtl="0" algn="l">
              <a:spcBef>
                <a:spcPts val="400"/>
              </a:spcBef>
              <a:spcAft>
                <a:spcPts val="0"/>
              </a:spcAft>
              <a:buNone/>
            </a:pPr>
            <a:r>
              <a:rPr b="0" i="0" lang="en-US" sz="1700" u="none" cap="none" strike="noStrike">
                <a:solidFill>
                  <a:srgbClr val="1A1440"/>
                </a:solidFill>
                <a:latin typeface="Arial"/>
                <a:ea typeface="Arial"/>
                <a:cs typeface="Arial"/>
                <a:sym typeface="Arial"/>
              </a:rPr>
              <a:t>Whether to cut targets and headcount city by city, or to fix one channel everywhere.</a:t>
            </a:r>
            <a:r>
              <a:rPr b="0" i="0" lang="en-US" sz="1700" u="none" cap="none" strike="noStrike">
                <a:solidFill>
                  <a:srgbClr val="1A1440"/>
                </a:solidFill>
                <a:latin typeface="Arial"/>
                <a:ea typeface="Arial"/>
                <a:cs typeface="Arial"/>
                <a:sym typeface="Arial"/>
              </a:rPr>
              <a:t> If clinics are short in every city, a city-by-city cut is the wrong tool.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5"/>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2 · THE PICTURE</a:t>
            </a:r>
            <a:endParaRPr/>
          </a:p>
        </p:txBody>
      </p:sp>
      <p:sp>
        <p:nvSpPr>
          <p:cNvPr id="112" name="Google Shape;112;p15"/>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2 / 6</a:t>
            </a:r>
            <a:endParaRPr/>
          </a:p>
        </p:txBody>
      </p:sp>
      <p:pic>
        <p:nvPicPr>
          <p:cNvPr descr="iitgn_seal.png" id="113" name="Google Shape;113;p15"/>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114" name="Google Shape;114;p15"/>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115" name="Google Shape;115;p15"/>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A1440"/>
                </a:solidFill>
                <a:latin typeface="Georgia"/>
                <a:ea typeface="Georgia"/>
                <a:cs typeface="Georgia"/>
                <a:sym typeface="Georgia"/>
              </a:rPr>
              <a:t>The tree, with both years in every box</a:t>
            </a:r>
            <a:endParaRPr/>
          </a:p>
        </p:txBody>
      </p:sp>
      <p:sp>
        <p:nvSpPr>
          <p:cNvPr id="116" name="Google Shape;116;p15"/>
          <p:cNvSpPr/>
          <p:nvPr/>
        </p:nvSpPr>
        <p:spPr>
          <a:xfrm>
            <a:off x="457200" y="1645920"/>
            <a:ext cx="11247120" cy="4206240"/>
          </a:xfrm>
          <a:prstGeom prst="roundRect">
            <a:avLst>
              <a:gd fmla="val 8000" name="adj"/>
            </a:avLst>
          </a:prstGeom>
          <a:solidFill>
            <a:srgbClr val="FFFFFF"/>
          </a:solidFill>
          <a:ln cap="flat" cmpd="sng" w="9525">
            <a:solidFill>
              <a:srgbClr val="D9D2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5"/>
          <p:cNvSpPr/>
          <p:nvPr/>
        </p:nvSpPr>
        <p:spPr>
          <a:xfrm>
            <a:off x="685800" y="2514600"/>
            <a:ext cx="2331720" cy="1234440"/>
          </a:xfrm>
          <a:prstGeom prst="roundRect">
            <a:avLst>
              <a:gd fmla="val 12000" name="adj"/>
            </a:avLst>
          </a:prstGeom>
          <a:solidFill>
            <a:srgbClr val="1A0F5C"/>
          </a:solidFill>
          <a:ln cap="flat" cmpd="sng" w="15875">
            <a:solidFill>
              <a:srgbClr val="1A0F5C"/>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D9A7FF"/>
                </a:solidFill>
                <a:latin typeface="Arial"/>
                <a:ea typeface="Arial"/>
                <a:cs typeface="Arial"/>
                <a:sym typeface="Arial"/>
              </a:rPr>
              <a:t>Test volume</a:t>
            </a:r>
            <a:endParaRPr/>
          </a:p>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435,430 → 457,230</a:t>
            </a:r>
            <a:endParaRPr/>
          </a:p>
          <a:p>
            <a:pPr indent="0" lvl="0" marL="0" marR="0" rtl="0" algn="ctr">
              <a:spcBef>
                <a:spcPts val="0"/>
              </a:spcBef>
              <a:spcAft>
                <a:spcPts val="0"/>
              </a:spcAft>
              <a:buNone/>
            </a:pPr>
            <a:r>
              <a:rPr b="1" i="0" lang="en-US" sz="1400" u="none" cap="none" strike="noStrike">
                <a:solidFill>
                  <a:srgbClr val="E9B04C"/>
                </a:solidFill>
                <a:latin typeface="Arial"/>
                <a:ea typeface="Arial"/>
                <a:cs typeface="Arial"/>
                <a:sym typeface="Arial"/>
              </a:rPr>
              <a:t>+5.0%</a:t>
            </a:r>
            <a:endParaRPr/>
          </a:p>
        </p:txBody>
      </p:sp>
      <p:sp>
        <p:nvSpPr>
          <p:cNvPr id="118" name="Google Shape;118;p15"/>
          <p:cNvSpPr/>
          <p:nvPr/>
        </p:nvSpPr>
        <p:spPr>
          <a:xfrm>
            <a:off x="3977639" y="1783080"/>
            <a:ext cx="2788920" cy="822960"/>
          </a:xfrm>
          <a:prstGeom prst="roundRect">
            <a:avLst>
              <a:gd fmla="val 12000" name="adj"/>
            </a:avLst>
          </a:prstGeom>
          <a:solidFill>
            <a:srgbClr val="EEEAFB"/>
          </a:solidFill>
          <a:ln cap="flat" cmpd="sng" w="15875">
            <a:solidFill>
              <a:srgbClr val="4E38AB"/>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4E38AB"/>
                </a:solidFill>
                <a:latin typeface="Arial"/>
                <a:ea typeface="Arial"/>
                <a:cs typeface="Arial"/>
                <a:sym typeface="Arial"/>
              </a:rPr>
              <a:t>Patients served</a:t>
            </a:r>
            <a:endParaRPr/>
          </a:p>
          <a:p>
            <a:pPr indent="0" lvl="0" marL="0" marR="0" rtl="0" algn="ctr">
              <a:spcBef>
                <a:spcPts val="0"/>
              </a:spcBef>
              <a:spcAft>
                <a:spcPts val="0"/>
              </a:spcAft>
              <a:buNone/>
            </a:pPr>
            <a:r>
              <a:rPr b="1" i="0" lang="en-US" sz="1500" u="none" cap="none" strike="noStrike">
                <a:solidFill>
                  <a:srgbClr val="1A1440"/>
                </a:solidFill>
                <a:latin typeface="Arial"/>
                <a:ea typeface="Arial"/>
                <a:cs typeface="Arial"/>
                <a:sym typeface="Arial"/>
              </a:rPr>
              <a:t>94,477 → 98,025</a:t>
            </a:r>
            <a:endParaRPr/>
          </a:p>
          <a:p>
            <a:pPr indent="0" lvl="0" marL="0" marR="0" rtl="0" algn="ctr">
              <a:spcBef>
                <a:spcPts val="0"/>
              </a:spcBef>
              <a:spcAft>
                <a:spcPts val="0"/>
              </a:spcAft>
              <a:buNone/>
            </a:pPr>
            <a:r>
              <a:rPr b="1" i="0" lang="en-US" sz="1300" u="none" cap="none" strike="noStrike">
                <a:solidFill>
                  <a:srgbClr val="1F7A4D"/>
                </a:solidFill>
                <a:latin typeface="Arial"/>
                <a:ea typeface="Arial"/>
                <a:cs typeface="Arial"/>
                <a:sym typeface="Arial"/>
              </a:rPr>
              <a:t>+3.8%</a:t>
            </a:r>
            <a:endParaRPr/>
          </a:p>
        </p:txBody>
      </p:sp>
      <p:cxnSp>
        <p:nvCxnSpPr>
          <p:cNvPr id="119" name="Google Shape;119;p15"/>
          <p:cNvCxnSpPr/>
          <p:nvPr/>
        </p:nvCxnSpPr>
        <p:spPr>
          <a:xfrm flipH="1" rot="10800000">
            <a:off x="3017520" y="2194560"/>
            <a:ext cx="960119" cy="937260"/>
          </a:xfrm>
          <a:prstGeom prst="straightConnector1">
            <a:avLst/>
          </a:prstGeom>
          <a:noFill/>
          <a:ln cap="flat" cmpd="sng" w="19050">
            <a:solidFill>
              <a:srgbClr val="4E38AB"/>
            </a:solidFill>
            <a:prstDash val="solid"/>
            <a:round/>
            <a:headEnd len="sm" w="sm" type="none"/>
            <a:tailEnd len="sm" w="sm" type="none"/>
          </a:ln>
          <a:effectLst>
            <a:outerShdw blurRad="40000" rotWithShape="0" dir="5400000" dist="20000">
              <a:srgbClr val="000000">
                <a:alpha val="38039"/>
              </a:srgbClr>
            </a:outerShdw>
          </a:effectLst>
        </p:spPr>
      </p:cxnSp>
      <p:sp>
        <p:nvSpPr>
          <p:cNvPr id="120" name="Google Shape;120;p15"/>
          <p:cNvSpPr/>
          <p:nvPr/>
        </p:nvSpPr>
        <p:spPr>
          <a:xfrm>
            <a:off x="3977639" y="2880360"/>
            <a:ext cx="2788920" cy="822960"/>
          </a:xfrm>
          <a:prstGeom prst="roundRect">
            <a:avLst>
              <a:gd fmla="val 12000" name="adj"/>
            </a:avLst>
          </a:prstGeom>
          <a:solidFill>
            <a:srgbClr val="EEEAFB"/>
          </a:solidFill>
          <a:ln cap="flat" cmpd="sng" w="15875">
            <a:solidFill>
              <a:srgbClr val="4E38AB"/>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4E38AB"/>
                </a:solidFill>
                <a:latin typeface="Arial"/>
                <a:ea typeface="Arial"/>
                <a:cs typeface="Arial"/>
                <a:sym typeface="Arial"/>
              </a:rPr>
              <a:t>Visits per patient</a:t>
            </a:r>
            <a:endParaRPr/>
          </a:p>
          <a:p>
            <a:pPr indent="0" lvl="0" marL="0" marR="0" rtl="0" algn="ctr">
              <a:spcBef>
                <a:spcPts val="0"/>
              </a:spcBef>
              <a:spcAft>
                <a:spcPts val="0"/>
              </a:spcAft>
              <a:buNone/>
            </a:pPr>
            <a:r>
              <a:rPr b="1" i="0" lang="en-US" sz="1500" u="none" cap="none" strike="noStrike">
                <a:solidFill>
                  <a:srgbClr val="1A1440"/>
                </a:solidFill>
                <a:latin typeface="Arial"/>
                <a:ea typeface="Arial"/>
                <a:cs typeface="Arial"/>
                <a:sym typeface="Arial"/>
              </a:rPr>
              <a:t>2.006 → 1.986</a:t>
            </a:r>
            <a:endParaRPr/>
          </a:p>
          <a:p>
            <a:pPr indent="0" lvl="0" marL="0" marR="0" rtl="0" algn="ctr">
              <a:spcBef>
                <a:spcPts val="0"/>
              </a:spcBef>
              <a:spcAft>
                <a:spcPts val="0"/>
              </a:spcAft>
              <a:buNone/>
            </a:pPr>
            <a:r>
              <a:rPr b="1" i="0" lang="en-US" sz="1300" u="none" cap="none" strike="noStrike">
                <a:solidFill>
                  <a:srgbClr val="D63A6A"/>
                </a:solidFill>
                <a:latin typeface="Arial"/>
                <a:ea typeface="Arial"/>
                <a:cs typeface="Arial"/>
                <a:sym typeface="Arial"/>
              </a:rPr>
              <a:t>−1.0%</a:t>
            </a:r>
            <a:endParaRPr/>
          </a:p>
        </p:txBody>
      </p:sp>
      <p:cxnSp>
        <p:nvCxnSpPr>
          <p:cNvPr id="121" name="Google Shape;121;p15"/>
          <p:cNvCxnSpPr/>
          <p:nvPr/>
        </p:nvCxnSpPr>
        <p:spPr>
          <a:xfrm>
            <a:off x="3017520" y="3131820"/>
            <a:ext cx="960119" cy="160020"/>
          </a:xfrm>
          <a:prstGeom prst="straightConnector1">
            <a:avLst/>
          </a:prstGeom>
          <a:noFill/>
          <a:ln cap="flat" cmpd="sng" w="19050">
            <a:solidFill>
              <a:srgbClr val="4E38AB"/>
            </a:solidFill>
            <a:prstDash val="solid"/>
            <a:round/>
            <a:headEnd len="sm" w="sm" type="none"/>
            <a:tailEnd len="sm" w="sm" type="none"/>
          </a:ln>
          <a:effectLst>
            <a:outerShdw blurRad="40000" rotWithShape="0" dir="5400000" dist="20000">
              <a:srgbClr val="000000">
                <a:alpha val="38039"/>
              </a:srgbClr>
            </a:outerShdw>
          </a:effectLst>
        </p:spPr>
      </p:cxnSp>
      <p:sp>
        <p:nvSpPr>
          <p:cNvPr id="122" name="Google Shape;122;p15"/>
          <p:cNvSpPr/>
          <p:nvPr/>
        </p:nvSpPr>
        <p:spPr>
          <a:xfrm>
            <a:off x="3977639" y="3977639"/>
            <a:ext cx="2788920" cy="822960"/>
          </a:xfrm>
          <a:prstGeom prst="roundRect">
            <a:avLst>
              <a:gd fmla="val 12000" name="adj"/>
            </a:avLst>
          </a:prstGeom>
          <a:solidFill>
            <a:srgbClr val="EEEAFB"/>
          </a:solidFill>
          <a:ln cap="flat" cmpd="sng" w="15875">
            <a:solidFill>
              <a:srgbClr val="4E38AB"/>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4E38AB"/>
                </a:solidFill>
                <a:latin typeface="Arial"/>
                <a:ea typeface="Arial"/>
                <a:cs typeface="Arial"/>
                <a:sym typeface="Arial"/>
              </a:rPr>
              <a:t>Tests per visit</a:t>
            </a:r>
            <a:endParaRPr/>
          </a:p>
          <a:p>
            <a:pPr indent="0" lvl="0" marL="0" marR="0" rtl="0" algn="ctr">
              <a:spcBef>
                <a:spcPts val="0"/>
              </a:spcBef>
              <a:spcAft>
                <a:spcPts val="0"/>
              </a:spcAft>
              <a:buNone/>
            </a:pPr>
            <a:r>
              <a:rPr b="1" i="0" lang="en-US" sz="1500" u="none" cap="none" strike="noStrike">
                <a:solidFill>
                  <a:srgbClr val="1A1440"/>
                </a:solidFill>
                <a:latin typeface="Arial"/>
                <a:ea typeface="Arial"/>
                <a:cs typeface="Arial"/>
                <a:sym typeface="Arial"/>
              </a:rPr>
              <a:t>2.298 → 2.348</a:t>
            </a:r>
            <a:endParaRPr/>
          </a:p>
          <a:p>
            <a:pPr indent="0" lvl="0" marL="0" marR="0" rtl="0" algn="ctr">
              <a:spcBef>
                <a:spcPts val="0"/>
              </a:spcBef>
              <a:spcAft>
                <a:spcPts val="0"/>
              </a:spcAft>
              <a:buNone/>
            </a:pPr>
            <a:r>
              <a:rPr b="1" i="0" lang="en-US" sz="1300" u="none" cap="none" strike="noStrike">
                <a:solidFill>
                  <a:srgbClr val="1F7A4D"/>
                </a:solidFill>
                <a:latin typeface="Arial"/>
                <a:ea typeface="Arial"/>
                <a:cs typeface="Arial"/>
                <a:sym typeface="Arial"/>
              </a:rPr>
              <a:t>+2.2%</a:t>
            </a:r>
            <a:endParaRPr/>
          </a:p>
        </p:txBody>
      </p:sp>
      <p:cxnSp>
        <p:nvCxnSpPr>
          <p:cNvPr id="123" name="Google Shape;123;p15"/>
          <p:cNvCxnSpPr/>
          <p:nvPr/>
        </p:nvCxnSpPr>
        <p:spPr>
          <a:xfrm>
            <a:off x="3017520" y="3131820"/>
            <a:ext cx="960119" cy="1257300"/>
          </a:xfrm>
          <a:prstGeom prst="straightConnector1">
            <a:avLst/>
          </a:prstGeom>
          <a:noFill/>
          <a:ln cap="flat" cmpd="sng" w="19050">
            <a:solidFill>
              <a:srgbClr val="4E38AB"/>
            </a:solidFill>
            <a:prstDash val="solid"/>
            <a:round/>
            <a:headEnd len="sm" w="sm" type="none"/>
            <a:tailEnd len="sm" w="sm" type="none"/>
          </a:ln>
          <a:effectLst>
            <a:outerShdw blurRad="40000" rotWithShape="0" dir="5400000" dist="20000">
              <a:srgbClr val="000000">
                <a:alpha val="38039"/>
              </a:srgbClr>
            </a:outerShdw>
          </a:effectLst>
        </p:spPr>
      </p:cxnSp>
      <p:sp>
        <p:nvSpPr>
          <p:cNvPr id="124" name="Google Shape;124;p15"/>
          <p:cNvSpPr txBox="1"/>
          <p:nvPr/>
        </p:nvSpPr>
        <p:spPr>
          <a:xfrm>
            <a:off x="5120640" y="2505456"/>
            <a:ext cx="457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4E38AB"/>
                </a:solidFill>
                <a:latin typeface="Arial"/>
                <a:ea typeface="Arial"/>
                <a:cs typeface="Arial"/>
                <a:sym typeface="Arial"/>
              </a:rPr>
              <a:t>×</a:t>
            </a:r>
            <a:endParaRPr/>
          </a:p>
        </p:txBody>
      </p:sp>
      <p:sp>
        <p:nvSpPr>
          <p:cNvPr id="125" name="Google Shape;125;p15"/>
          <p:cNvSpPr txBox="1"/>
          <p:nvPr/>
        </p:nvSpPr>
        <p:spPr>
          <a:xfrm>
            <a:off x="5120640" y="3602736"/>
            <a:ext cx="457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4E38AB"/>
                </a:solidFill>
                <a:latin typeface="Arial"/>
                <a:ea typeface="Arial"/>
                <a:cs typeface="Arial"/>
                <a:sym typeface="Arial"/>
              </a:rPr>
              <a:t>×</a:t>
            </a:r>
            <a:endParaRPr/>
          </a:p>
        </p:txBody>
      </p:sp>
      <p:sp>
        <p:nvSpPr>
          <p:cNvPr id="126" name="Google Shape;126;p15"/>
          <p:cNvSpPr/>
          <p:nvPr/>
        </p:nvSpPr>
        <p:spPr>
          <a:xfrm>
            <a:off x="7406640" y="1783080"/>
            <a:ext cx="1965960" cy="914400"/>
          </a:xfrm>
          <a:prstGeom prst="roundRect">
            <a:avLst>
              <a:gd fmla="val 12000" name="adj"/>
            </a:avLst>
          </a:prstGeom>
          <a:solidFill>
            <a:srgbClr val="FFFFFF"/>
          </a:solidFill>
          <a:ln cap="flat" cmpd="sng" w="15875">
            <a:solidFill>
              <a:srgbClr val="4E38AB"/>
            </a:solidFill>
            <a:prstDash val="dash"/>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4E38AB"/>
                </a:solidFill>
                <a:latin typeface="Arial"/>
                <a:ea typeface="Arial"/>
                <a:cs typeface="Arial"/>
                <a:sym typeface="Arial"/>
              </a:rPr>
              <a:t>Also in H1 2025</a:t>
            </a:r>
            <a:endParaRPr/>
          </a:p>
          <a:p>
            <a:pPr indent="0" lvl="0" marL="0" marR="0" rtl="0" algn="ctr">
              <a:spcBef>
                <a:spcPts val="0"/>
              </a:spcBef>
              <a:spcAft>
                <a:spcPts val="0"/>
              </a:spcAft>
              <a:buNone/>
            </a:pPr>
            <a:r>
              <a:rPr b="1" i="0" lang="en-US" sz="1400" u="none" cap="none" strike="noStrike">
                <a:solidFill>
                  <a:srgbClr val="1A1440"/>
                </a:solidFill>
                <a:latin typeface="Arial"/>
                <a:ea typeface="Arial"/>
                <a:cs typeface="Arial"/>
                <a:sym typeface="Arial"/>
              </a:rPr>
              <a:t>— → 31,034</a:t>
            </a:r>
            <a:endParaRPr/>
          </a:p>
          <a:p>
            <a:pPr indent="0" lvl="0" marL="0" marR="0" rtl="0" algn="ctr">
              <a:spcBef>
                <a:spcPts val="0"/>
              </a:spcBef>
              <a:spcAft>
                <a:spcPts val="0"/>
              </a:spcAft>
              <a:buNone/>
            </a:pPr>
            <a:r>
              <a:rPr b="0" i="0" lang="en-US" sz="1000" u="none" cap="none" strike="noStrike">
                <a:solidFill>
                  <a:srgbClr val="6B6690"/>
                </a:solidFill>
                <a:latin typeface="Arial"/>
                <a:ea typeface="Arial"/>
                <a:cs typeface="Arial"/>
                <a:sym typeface="Arial"/>
              </a:rPr>
              <a:t>H1 2026 only</a:t>
            </a:r>
            <a:endParaRPr/>
          </a:p>
        </p:txBody>
      </p:sp>
      <p:sp>
        <p:nvSpPr>
          <p:cNvPr id="127" name="Google Shape;127;p15"/>
          <p:cNvSpPr/>
          <p:nvPr/>
        </p:nvSpPr>
        <p:spPr>
          <a:xfrm>
            <a:off x="9646920" y="1783080"/>
            <a:ext cx="1965960" cy="914400"/>
          </a:xfrm>
          <a:prstGeom prst="roundRect">
            <a:avLst>
              <a:gd fmla="val 12000" name="adj"/>
            </a:avLst>
          </a:prstGeom>
          <a:solidFill>
            <a:srgbClr val="FFFFFF"/>
          </a:solidFill>
          <a:ln cap="flat" cmpd="sng" w="15875">
            <a:solidFill>
              <a:srgbClr val="4E38AB"/>
            </a:solidFill>
            <a:prstDash val="dash"/>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4E38AB"/>
                </a:solidFill>
                <a:latin typeface="Arial"/>
                <a:ea typeface="Arial"/>
                <a:cs typeface="Arial"/>
                <a:sym typeface="Arial"/>
              </a:rPr>
              <a:t>Not in H1 2025</a:t>
            </a:r>
            <a:endParaRPr/>
          </a:p>
          <a:p>
            <a:pPr indent="0" lvl="0" marL="0" marR="0" rtl="0" algn="ctr">
              <a:spcBef>
                <a:spcPts val="0"/>
              </a:spcBef>
              <a:spcAft>
                <a:spcPts val="0"/>
              </a:spcAft>
              <a:buNone/>
            </a:pPr>
            <a:r>
              <a:rPr b="1" i="0" lang="en-US" sz="1400" u="none" cap="none" strike="noStrike">
                <a:solidFill>
                  <a:srgbClr val="1A1440"/>
                </a:solidFill>
                <a:latin typeface="Arial"/>
                <a:ea typeface="Arial"/>
                <a:cs typeface="Arial"/>
                <a:sym typeface="Arial"/>
              </a:rPr>
              <a:t>— → 66,991</a:t>
            </a:r>
            <a:endParaRPr/>
          </a:p>
          <a:p>
            <a:pPr indent="0" lvl="0" marL="0" marR="0" rtl="0" algn="ctr">
              <a:spcBef>
                <a:spcPts val="0"/>
              </a:spcBef>
              <a:spcAft>
                <a:spcPts val="0"/>
              </a:spcAft>
              <a:buNone/>
            </a:pPr>
            <a:r>
              <a:rPr b="0" i="0" lang="en-US" sz="1000" u="none" cap="none" strike="noStrike">
                <a:solidFill>
                  <a:srgbClr val="6B6690"/>
                </a:solidFill>
                <a:latin typeface="Arial"/>
                <a:ea typeface="Arial"/>
                <a:cs typeface="Arial"/>
                <a:sym typeface="Arial"/>
              </a:rPr>
              <a:t>H1 2026 only</a:t>
            </a:r>
            <a:endParaRPr/>
          </a:p>
        </p:txBody>
      </p:sp>
      <p:sp>
        <p:nvSpPr>
          <p:cNvPr id="128" name="Google Shape;128;p15"/>
          <p:cNvSpPr txBox="1"/>
          <p:nvPr/>
        </p:nvSpPr>
        <p:spPr>
          <a:xfrm>
            <a:off x="9326880" y="1965960"/>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4E38AB"/>
                </a:solidFill>
                <a:latin typeface="Arial"/>
                <a:ea typeface="Arial"/>
                <a:cs typeface="Arial"/>
                <a:sym typeface="Arial"/>
              </a:rPr>
              <a:t>+</a:t>
            </a:r>
            <a:endParaRPr/>
          </a:p>
        </p:txBody>
      </p:sp>
      <p:cxnSp>
        <p:nvCxnSpPr>
          <p:cNvPr id="129" name="Google Shape;129;p15"/>
          <p:cNvCxnSpPr/>
          <p:nvPr/>
        </p:nvCxnSpPr>
        <p:spPr>
          <a:xfrm>
            <a:off x="6766560" y="2194560"/>
            <a:ext cx="640080" cy="0"/>
          </a:xfrm>
          <a:prstGeom prst="straightConnector1">
            <a:avLst/>
          </a:prstGeom>
          <a:noFill/>
          <a:ln cap="flat" cmpd="sng" w="19050">
            <a:solidFill>
              <a:srgbClr val="4E38AB"/>
            </a:solidFill>
            <a:prstDash val="solid"/>
            <a:round/>
            <a:headEnd len="sm" w="sm" type="none"/>
            <a:tailEnd len="sm" w="sm" type="none"/>
          </a:ln>
          <a:effectLst>
            <a:outerShdw blurRad="40000" rotWithShape="0" dir="5400000" dist="20000">
              <a:srgbClr val="000000">
                <a:alpha val="38039"/>
              </a:srgbClr>
            </a:outerShdw>
          </a:effectLst>
        </p:spPr>
      </p:cxnSp>
      <p:sp>
        <p:nvSpPr>
          <p:cNvPr id="130" name="Google Shape;130;p15"/>
          <p:cNvSpPr/>
          <p:nvPr/>
        </p:nvSpPr>
        <p:spPr>
          <a:xfrm>
            <a:off x="685800" y="4983480"/>
            <a:ext cx="3291840" cy="822960"/>
          </a:xfrm>
          <a:prstGeom prst="roundRect">
            <a:avLst>
              <a:gd fmla="val 12000" name="adj"/>
            </a:avLst>
          </a:prstGeom>
          <a:solidFill>
            <a:srgbClr val="1A0F5C"/>
          </a:solidFill>
          <a:ln cap="flat" cmpd="sng" w="15875">
            <a:solidFill>
              <a:srgbClr val="1A0F5C"/>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D9A7FF"/>
                </a:solidFill>
                <a:latin typeface="Arial"/>
                <a:ea typeface="Arial"/>
                <a:cs typeface="Arial"/>
                <a:sym typeface="Arial"/>
              </a:rPr>
              <a:t>Revenue, booked at list price</a:t>
            </a:r>
            <a:endParaRPr/>
          </a:p>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₹27.8 cr → ₹31.5 cr  (+13.2%)</a:t>
            </a:r>
            <a:endParaRPr/>
          </a:p>
        </p:txBody>
      </p:sp>
      <p:sp>
        <p:nvSpPr>
          <p:cNvPr id="131" name="Google Shape;131;p15"/>
          <p:cNvSpPr txBox="1"/>
          <p:nvPr/>
        </p:nvSpPr>
        <p:spPr>
          <a:xfrm>
            <a:off x="4023360" y="5138928"/>
            <a:ext cx="457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4E38AB"/>
                </a:solidFill>
                <a:latin typeface="Arial"/>
                <a:ea typeface="Arial"/>
                <a:cs typeface="Arial"/>
                <a:sym typeface="Arial"/>
              </a:rPr>
              <a:t>=</a:t>
            </a:r>
            <a:endParaRPr/>
          </a:p>
        </p:txBody>
      </p:sp>
      <p:sp>
        <p:nvSpPr>
          <p:cNvPr id="132" name="Google Shape;132;p15"/>
          <p:cNvSpPr/>
          <p:nvPr/>
        </p:nvSpPr>
        <p:spPr>
          <a:xfrm>
            <a:off x="4526280" y="4983480"/>
            <a:ext cx="2926080" cy="822960"/>
          </a:xfrm>
          <a:prstGeom prst="roundRect">
            <a:avLst>
              <a:gd fmla="val 12000" name="adj"/>
            </a:avLst>
          </a:prstGeom>
          <a:solidFill>
            <a:srgbClr val="EEEAFB"/>
          </a:solidFill>
          <a:ln cap="flat" cmpd="sng" w="15875">
            <a:solidFill>
              <a:srgbClr val="4E38AB"/>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4E38AB"/>
                </a:solidFill>
                <a:latin typeface="Arial"/>
                <a:ea typeface="Arial"/>
                <a:cs typeface="Arial"/>
                <a:sym typeface="Arial"/>
              </a:rPr>
              <a:t>Test volume</a:t>
            </a:r>
            <a:endParaRPr/>
          </a:p>
          <a:p>
            <a:pPr indent="0" lvl="0" marL="0" marR="0" rtl="0" algn="ctr">
              <a:spcBef>
                <a:spcPts val="0"/>
              </a:spcBef>
              <a:spcAft>
                <a:spcPts val="0"/>
              </a:spcAft>
              <a:buNone/>
            </a:pPr>
            <a:r>
              <a:rPr b="1" i="0" lang="en-US" sz="1300" u="none" cap="none" strike="noStrike">
                <a:solidFill>
                  <a:srgbClr val="1A1440"/>
                </a:solidFill>
                <a:latin typeface="Arial"/>
                <a:ea typeface="Arial"/>
                <a:cs typeface="Arial"/>
                <a:sym typeface="Arial"/>
              </a:rPr>
              <a:t>435,430 → 457,230</a:t>
            </a:r>
            <a:endParaRPr/>
          </a:p>
        </p:txBody>
      </p:sp>
      <p:sp>
        <p:nvSpPr>
          <p:cNvPr id="133" name="Google Shape;133;p15"/>
          <p:cNvSpPr txBox="1"/>
          <p:nvPr/>
        </p:nvSpPr>
        <p:spPr>
          <a:xfrm>
            <a:off x="7498079" y="5138928"/>
            <a:ext cx="457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4E38AB"/>
                </a:solidFill>
                <a:latin typeface="Arial"/>
                <a:ea typeface="Arial"/>
                <a:cs typeface="Arial"/>
                <a:sym typeface="Arial"/>
              </a:rPr>
              <a:t>×</a:t>
            </a:r>
            <a:endParaRPr/>
          </a:p>
        </p:txBody>
      </p:sp>
      <p:sp>
        <p:nvSpPr>
          <p:cNvPr id="134" name="Google Shape;134;p15"/>
          <p:cNvSpPr/>
          <p:nvPr/>
        </p:nvSpPr>
        <p:spPr>
          <a:xfrm>
            <a:off x="8001000" y="4983480"/>
            <a:ext cx="3566160" cy="822960"/>
          </a:xfrm>
          <a:prstGeom prst="roundRect">
            <a:avLst>
              <a:gd fmla="val 12000" name="adj"/>
            </a:avLst>
          </a:prstGeom>
          <a:solidFill>
            <a:srgbClr val="EEEAFB"/>
          </a:solidFill>
          <a:ln cap="flat" cmpd="sng" w="15875">
            <a:solidFill>
              <a:srgbClr val="4E38AB"/>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4E38AB"/>
                </a:solidFill>
                <a:latin typeface="Arial"/>
                <a:ea typeface="Arial"/>
                <a:cs typeface="Arial"/>
                <a:sym typeface="Arial"/>
              </a:rPr>
              <a:t>Revenue per test</a:t>
            </a:r>
            <a:endParaRPr/>
          </a:p>
          <a:p>
            <a:pPr indent="0" lvl="0" marL="0" marR="0" rtl="0" algn="ctr">
              <a:spcBef>
                <a:spcPts val="0"/>
              </a:spcBef>
              <a:spcAft>
                <a:spcPts val="0"/>
              </a:spcAft>
              <a:buNone/>
            </a:pPr>
            <a:r>
              <a:rPr b="1" i="0" lang="en-US" sz="1300" u="none" cap="none" strike="noStrike">
                <a:solidFill>
                  <a:srgbClr val="1A1440"/>
                </a:solidFill>
                <a:latin typeface="Arial"/>
                <a:ea typeface="Arial"/>
                <a:cs typeface="Arial"/>
                <a:sym typeface="Arial"/>
              </a:rPr>
              <a:t>₹639 → ₹689  (+7.8%)</a:t>
            </a:r>
            <a:endParaRPr/>
          </a:p>
        </p:txBody>
      </p:sp>
      <p:sp>
        <p:nvSpPr>
          <p:cNvPr id="135" name="Google Shape;135;p15"/>
          <p:cNvSpPr txBox="1"/>
          <p:nvPr/>
        </p:nvSpPr>
        <p:spPr>
          <a:xfrm>
            <a:off x="7406640" y="2880360"/>
            <a:ext cx="4206240" cy="1737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50" u="none" cap="none" strike="noStrike">
                <a:solidFill>
                  <a:srgbClr val="1A1440"/>
                </a:solidFill>
                <a:latin typeface="Arial"/>
                <a:ea typeface="Arial"/>
                <a:cs typeface="Arial"/>
                <a:sym typeface="Arial"/>
              </a:rPr>
              <a:t>Industry tree: patients × tests per patient × revenue per test</a:t>
            </a:r>
            <a:endParaRPr/>
          </a:p>
          <a:p>
            <a:pPr indent="0" lvl="0" marL="0" marR="0" rtl="0" algn="l">
              <a:spcBef>
                <a:spcPts val="500"/>
              </a:spcBef>
              <a:spcAft>
                <a:spcPts val="0"/>
              </a:spcAft>
              <a:buNone/>
            </a:pPr>
            <a:r>
              <a:rPr b="0" i="0" lang="en-US" sz="1050" u="none" cap="none" strike="noStrike">
                <a:solidFill>
                  <a:srgbClr val="1A1440"/>
                </a:solidFill>
                <a:latin typeface="Arial"/>
                <a:ea typeface="Arial"/>
                <a:cs typeface="Arial"/>
                <a:sym typeface="Arial"/>
              </a:rPr>
              <a:t>98,025 patients × 4.664 tests each × ₹689 (H1 2025: 94,477 × 4.609 × ₹639)</a:t>
            </a:r>
            <a:endParaRPr/>
          </a:p>
          <a:p>
            <a:pPr indent="0" lvl="0" marL="0" marR="0" rtl="0" algn="l">
              <a:spcBef>
                <a:spcPts val="500"/>
              </a:spcBef>
              <a:spcAft>
                <a:spcPts val="0"/>
              </a:spcAft>
              <a:buNone/>
            </a:pPr>
            <a:r>
              <a:rPr b="0" i="0" lang="en-US" sz="1050" u="none" cap="none" strike="noStrike">
                <a:solidFill>
                  <a:srgbClr val="6B6690"/>
                </a:solidFill>
                <a:latin typeface="Arial"/>
                <a:ea typeface="Arial"/>
                <a:cs typeface="Arial"/>
                <a:sym typeface="Arial"/>
              </a:rPr>
              <a:t>Branches multiply back to the total. New / returning split is H1 2026 only: the data starts in January 2025.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6"/>
          <p:cNvSpPr txBox="1"/>
          <p:nvPr/>
        </p:nvSpPr>
        <p:spPr>
          <a:xfrm>
            <a:off x="0" y="0"/>
            <a:ext cx="8601900" cy="400200"/>
          </a:xfrm>
          <a:prstGeom prst="rect">
            <a:avLst/>
          </a:prstGeom>
          <a:noFill/>
          <a:ln>
            <a:noFill/>
          </a:ln>
        </p:spPr>
        <p:txBody>
          <a:bodyPr anchorCtr="0" anchor="t" bIns="91425" lIns="91425" spcFirstLastPara="1" rIns="91425" wrap="square" tIns="91425">
            <a:spAutoFit/>
          </a:bodyPr>
          <a:lstStyle/>
          <a:p>
            <a:pPr indent="0" lvl="0" marL="0" rtl="0" algn="l">
              <a:spcBef>
                <a:spcPts val="500"/>
              </a:spcBef>
              <a:spcAft>
                <a:spcPts val="0"/>
              </a:spcAft>
              <a:buNone/>
            </a:pPr>
            <a:r>
              <a:t/>
            </a:r>
            <a:endParaRPr/>
          </a:p>
        </p:txBody>
      </p:sp>
      <p:pic>
        <p:nvPicPr>
          <p:cNvPr id="141" name="Google Shape;141;p16"/>
          <p:cNvPicPr preferRelativeResize="0"/>
          <p:nvPr/>
        </p:nvPicPr>
        <p:blipFill>
          <a:blip r:embed="rId3">
            <a:alphaModFix/>
          </a:blip>
          <a:stretch>
            <a:fillRect/>
          </a:stretch>
        </p:blipFill>
        <p:spPr>
          <a:xfrm>
            <a:off x="212050" y="400200"/>
            <a:ext cx="11722898" cy="58614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7"/>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3 · THE CLAIM</a:t>
            </a:r>
            <a:endParaRPr/>
          </a:p>
        </p:txBody>
      </p:sp>
      <p:sp>
        <p:nvSpPr>
          <p:cNvPr id="149" name="Google Shape;149;p17"/>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3 / 6</a:t>
            </a:r>
            <a:endParaRPr/>
          </a:p>
        </p:txBody>
      </p:sp>
      <p:pic>
        <p:nvPicPr>
          <p:cNvPr descr="iitgn_seal.png" id="150" name="Google Shape;150;p17"/>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151" name="Google Shape;151;p17"/>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152" name="Google Shape;152;p17"/>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1A1440"/>
                </a:solidFill>
                <a:latin typeface="Georgia"/>
                <a:ea typeface="Georgia"/>
                <a:cs typeface="Georgia"/>
                <a:sym typeface="Georgia"/>
              </a:rPr>
              <a:t>One sentence for the board</a:t>
            </a:r>
            <a:endParaRPr/>
          </a:p>
        </p:txBody>
      </p:sp>
      <p:sp>
        <p:nvSpPr>
          <p:cNvPr id="153" name="Google Shape;153;p17"/>
          <p:cNvSpPr/>
          <p:nvPr/>
        </p:nvSpPr>
        <p:spPr>
          <a:xfrm>
            <a:off x="457200" y="2011680"/>
            <a:ext cx="11247120" cy="2377440"/>
          </a:xfrm>
          <a:prstGeom prst="roundRect">
            <a:avLst>
              <a:gd fmla="val 8000" name="adj"/>
            </a:avLst>
          </a:prstGeom>
          <a:solidFill>
            <a:srgbClr val="EEEAF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822960" y="2286000"/>
            <a:ext cx="10515600" cy="182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1A0F5C"/>
                </a:solidFill>
                <a:latin typeface="Georgia"/>
                <a:ea typeface="Georgia"/>
                <a:cs typeface="Georgia"/>
                <a:sym typeface="Georgia"/>
              </a:rPr>
              <a:t>Test volume grew 5.0% in H1 2026 against H1 2025 (457,230 vs 435,430 tests, six cities) versus a plan of 18.4%: the 13.4-point shortfall sits in the clinic channel, which fell 11.9% while home collection grew 37.5%, and clinic is below plan in all six cities.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8"/>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4 · THE EVIDENCE</a:t>
            </a:r>
            <a:endParaRPr/>
          </a:p>
        </p:txBody>
      </p:sp>
      <p:sp>
        <p:nvSpPr>
          <p:cNvPr id="162" name="Google Shape;162;p18"/>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4 / 6</a:t>
            </a:r>
            <a:endParaRPr/>
          </a:p>
        </p:txBody>
      </p:sp>
      <p:pic>
        <p:nvPicPr>
          <p:cNvPr descr="iitgn_seal.png" id="163" name="Google Shape;163;p18"/>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164" name="Google Shape;164;p18"/>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165" name="Google Shape;165;p18"/>
          <p:cNvSpPr txBox="1"/>
          <p:nvPr/>
        </p:nvSpPr>
        <p:spPr>
          <a:xfrm>
            <a:off x="457200" y="640080"/>
            <a:ext cx="112470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1A1440"/>
                </a:solidFill>
                <a:latin typeface="Georgia"/>
                <a:ea typeface="Georgia"/>
                <a:cs typeface="Georgia"/>
                <a:sym typeface="Georgia"/>
              </a:rPr>
              <a:t>Channel wise breakdown of City</a:t>
            </a:r>
            <a:endParaRPr/>
          </a:p>
        </p:txBody>
      </p:sp>
      <p:sp>
        <p:nvSpPr>
          <p:cNvPr id="166" name="Google Shape;166;p18"/>
          <p:cNvSpPr txBox="1"/>
          <p:nvPr/>
        </p:nvSpPr>
        <p:spPr>
          <a:xfrm>
            <a:off x="457200" y="1645920"/>
            <a:ext cx="4755000" cy="218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440"/>
                </a:solidFill>
                <a:latin typeface="Arial"/>
                <a:ea typeface="Arial"/>
                <a:cs typeface="Arial"/>
                <a:sym typeface="Arial"/>
              </a:rPr>
              <a:t>1. Growth: </a:t>
            </a:r>
            <a:r>
              <a:rPr b="0" i="0" lang="en-US" sz="1500" u="none" cap="none" strike="noStrike">
                <a:solidFill>
                  <a:srgbClr val="1A1440"/>
                </a:solidFill>
                <a:latin typeface="Arial"/>
                <a:ea typeface="Arial"/>
                <a:cs typeface="Arial"/>
                <a:sym typeface="Arial"/>
              </a:rPr>
              <a:t>457,230 of 435,430 tests in H1 2025 = +5.0% (H1 2026 vs H1 2025, six cities). Plan +18.4%: 58,510 tests, 13.4 points, short.</a:t>
            </a:r>
            <a:endParaRPr/>
          </a:p>
          <a:p>
            <a:pPr indent="0" lvl="0" marL="0" marR="0" rtl="0" algn="l">
              <a:spcBef>
                <a:spcPts val="1000"/>
              </a:spcBef>
              <a:spcAft>
                <a:spcPts val="0"/>
              </a:spcAft>
              <a:buNone/>
            </a:pPr>
            <a:r>
              <a:rPr b="1" i="0" lang="en-US" sz="1500" u="none" cap="none" strike="noStrike">
                <a:solidFill>
                  <a:srgbClr val="1A1440"/>
                </a:solidFill>
                <a:latin typeface="Arial"/>
                <a:ea typeface="Arial"/>
                <a:cs typeface="Arial"/>
                <a:sym typeface="Arial"/>
              </a:rPr>
              <a:t>2. Channel: </a:t>
            </a:r>
            <a:r>
              <a:rPr b="0" i="0" lang="en-US" sz="1500" u="none" cap="none" strike="noStrike">
                <a:solidFill>
                  <a:srgbClr val="1A1440"/>
                </a:solidFill>
                <a:latin typeface="Arial"/>
                <a:ea typeface="Arial"/>
                <a:cs typeface="Arial"/>
                <a:sym typeface="Arial"/>
              </a:rPr>
              <a:t>clinic 252,678 of 286,692 = −11.9% (−34,014 tests); home 204,552 of 148,738 = +37.5% (+55,814). Against the plan spread by last year's mix: clinic −20.0 points, home +6.5.</a:t>
            </a:r>
            <a:endParaRPr/>
          </a:p>
          <a:p>
            <a:pPr indent="0" lvl="0" marL="0" marR="0" rtl="0" algn="l">
              <a:spcBef>
                <a:spcPts val="1000"/>
              </a:spcBef>
              <a:spcAft>
                <a:spcPts val="0"/>
              </a:spcAft>
              <a:buNone/>
            </a:pPr>
            <a:r>
              <a:t/>
            </a:r>
            <a:endParaRPr/>
          </a:p>
        </p:txBody>
      </p:sp>
      <p:sp>
        <p:nvSpPr>
          <p:cNvPr id="167" name="Google Shape;167;p18"/>
          <p:cNvSpPr/>
          <p:nvPr/>
        </p:nvSpPr>
        <p:spPr>
          <a:xfrm>
            <a:off x="5486400" y="1645920"/>
            <a:ext cx="6217920" cy="4206240"/>
          </a:xfrm>
          <a:prstGeom prst="roundRect">
            <a:avLst>
              <a:gd fmla="val 8000" name="adj"/>
            </a:avLst>
          </a:prstGeom>
          <a:solidFill>
            <a:srgbClr val="FFFFFF"/>
          </a:solidFill>
          <a:ln cap="flat" cmpd="sng" w="9525">
            <a:solidFill>
              <a:srgbClr val="D9D2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lide4_chart.png" id="168" name="Google Shape;168;p18"/>
          <p:cNvPicPr preferRelativeResize="0"/>
          <p:nvPr/>
        </p:nvPicPr>
        <p:blipFill rotWithShape="1">
          <a:blip r:embed="rId4">
            <a:alphaModFix/>
          </a:blip>
          <a:srcRect b="0" l="0" r="0" t="0"/>
          <a:stretch/>
        </p:blipFill>
        <p:spPr>
          <a:xfrm>
            <a:off x="5577840" y="1737360"/>
            <a:ext cx="6035040" cy="40233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5 · THE CAVEAT AND THE ALTERNATIVE</a:t>
            </a:r>
            <a:endParaRPr/>
          </a:p>
        </p:txBody>
      </p:sp>
      <p:sp>
        <p:nvSpPr>
          <p:cNvPr id="176" name="Google Shape;176;p19"/>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5 / 6</a:t>
            </a:r>
            <a:endParaRPr/>
          </a:p>
        </p:txBody>
      </p:sp>
      <p:pic>
        <p:nvPicPr>
          <p:cNvPr descr="iitgn_seal.png" id="177" name="Google Shape;177;p19"/>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178" name="Google Shape;178;p19"/>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179" name="Google Shape;179;p19"/>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A1440"/>
                </a:solidFill>
                <a:latin typeface="Georgia"/>
                <a:ea typeface="Georgia"/>
                <a:cs typeface="Georgia"/>
                <a:sym typeface="Georgia"/>
              </a:rPr>
              <a:t>What would change the claim, and what we rejected</a:t>
            </a:r>
            <a:endParaRPr/>
          </a:p>
        </p:txBody>
      </p:sp>
      <p:sp>
        <p:nvSpPr>
          <p:cNvPr id="180" name="Google Shape;180;p19"/>
          <p:cNvSpPr txBox="1"/>
          <p:nvPr/>
        </p:nvSpPr>
        <p:spPr>
          <a:xfrm>
            <a:off x="457200" y="1645920"/>
            <a:ext cx="1124712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A1440"/>
                </a:solidFill>
                <a:latin typeface="Arial"/>
                <a:ea typeface="Arial"/>
                <a:cs typeface="Arial"/>
                <a:sym typeface="Arial"/>
              </a:rPr>
              <a:t>The one thing that would change this claim:</a:t>
            </a:r>
            <a:endParaRPr/>
          </a:p>
          <a:p>
            <a:pPr indent="0" lvl="0" marL="0" marR="0" rtl="0" algn="l">
              <a:spcBef>
                <a:spcPts val="700"/>
              </a:spcBef>
              <a:spcAft>
                <a:spcPts val="0"/>
              </a:spcAft>
              <a:buNone/>
            </a:pPr>
            <a:r>
              <a:rPr b="0" i="0" lang="en-US" sz="1700" u="none" cap="none" strike="noStrike">
                <a:solidFill>
                  <a:srgbClr val="1A1440"/>
                </a:solidFill>
                <a:latin typeface="Arial"/>
                <a:ea typeface="Arial"/>
                <a:cs typeface="Arial"/>
                <a:sym typeface="Arial"/>
              </a:rPr>
              <a:t>The free home collection offer (₹150 fee waived, January to March). Clinic growth was −18.1% in those three months and −5.4% in the three after, so part of the clinic fall may be patients switching to home, not patients lost. If Q2's pace is the no-offer pace, the clinic shortfall is smaller by up to about 13 points of clinic growth (roughly 4 of the 13.4 network points, our estimate) and total demand is the real problem. We have not yet tested who used the offer.</a:t>
            </a:r>
            <a:endParaRPr/>
          </a:p>
          <a:p>
            <a:pPr indent="0" lvl="0" marL="0" marR="0" rtl="0" algn="l">
              <a:spcBef>
                <a:spcPts val="700"/>
              </a:spcBef>
              <a:spcAft>
                <a:spcPts val="0"/>
              </a:spcAft>
              <a:buNone/>
            </a:pPr>
            <a:r>
              <a:t/>
            </a:r>
            <a:endParaRPr b="0" i="0" sz="1700" u="none" cap="none" strike="noStrike">
              <a:solidFill>
                <a:srgbClr val="1A1440"/>
              </a:solidFill>
              <a:latin typeface="Arial"/>
              <a:ea typeface="Arial"/>
              <a:cs typeface="Arial"/>
              <a:sym typeface="Arial"/>
            </a:endParaRPr>
          </a:p>
          <a:p>
            <a:pPr indent="0" lvl="0" marL="0" marR="0" rtl="0" algn="l">
              <a:spcBef>
                <a:spcPts val="700"/>
              </a:spcBef>
              <a:spcAft>
                <a:spcPts val="0"/>
              </a:spcAft>
              <a:buNone/>
            </a:pPr>
            <a:r>
              <a:rPr b="1" i="0" lang="en-US" sz="1700" u="none" cap="none" strike="noStrike">
                <a:solidFill>
                  <a:srgbClr val="1A1440"/>
                </a:solidFill>
                <a:latin typeface="Arial"/>
                <a:ea typeface="Arial"/>
                <a:cs typeface="Arial"/>
                <a:sym typeface="Arial"/>
              </a:rPr>
              <a:t>The approach we rejected on the way here:</a:t>
            </a:r>
            <a:endParaRPr/>
          </a:p>
          <a:p>
            <a:pPr indent="0" lvl="0" marL="0" marR="0" rtl="0" algn="l">
              <a:spcBef>
                <a:spcPts val="700"/>
              </a:spcBef>
              <a:spcAft>
                <a:spcPts val="0"/>
              </a:spcAft>
              <a:buNone/>
            </a:pPr>
            <a:r>
              <a:rPr b="0" i="0" lang="en-US" sz="1700" u="none" cap="none" strike="noStrike">
                <a:solidFill>
                  <a:srgbClr val="1A1440"/>
                </a:solidFill>
                <a:latin typeface="Arial"/>
                <a:ea typeface="Arial"/>
                <a:cs typeface="Arial"/>
                <a:sym typeface="Arial"/>
              </a:rPr>
              <a:t>Counting from the results table (tests the lab ran), because it leaves out no-shows and cancellations (81.6% of booking rows) and the plan's monthly shape matches our booking count. It would have moved the headline by 0.03 points (+4.98% against +5.01%).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20"/>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6 · THE ACTION</a:t>
            </a:r>
            <a:endParaRPr/>
          </a:p>
        </p:txBody>
      </p:sp>
      <p:sp>
        <p:nvSpPr>
          <p:cNvPr id="188" name="Google Shape;188;p20"/>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6 / 6</a:t>
            </a:r>
            <a:endParaRPr/>
          </a:p>
        </p:txBody>
      </p:sp>
      <p:pic>
        <p:nvPicPr>
          <p:cNvPr descr="iitgn_seal.png" id="189" name="Google Shape;189;p20"/>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190" name="Google Shape;190;p20"/>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191" name="Google Shape;191;p20"/>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A1440"/>
                </a:solidFill>
                <a:latin typeface="Georgia"/>
                <a:ea typeface="Georgia"/>
                <a:cs typeface="Georgia"/>
                <a:sym typeface="Georgia"/>
              </a:rPr>
              <a:t>The action, and the cost of being wrong</a:t>
            </a:r>
            <a:endParaRPr/>
          </a:p>
        </p:txBody>
      </p:sp>
      <p:sp>
        <p:nvSpPr>
          <p:cNvPr id="192" name="Google Shape;192;p20"/>
          <p:cNvSpPr txBox="1"/>
          <p:nvPr/>
        </p:nvSpPr>
        <p:spPr>
          <a:xfrm>
            <a:off x="457200" y="1645920"/>
            <a:ext cx="1124712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50" u="none" cap="none" strike="noStrike">
                <a:solidFill>
                  <a:srgbClr val="1A1440"/>
                </a:solidFill>
                <a:latin typeface="Arial"/>
                <a:ea typeface="Arial"/>
                <a:cs typeface="Arial"/>
                <a:sym typeface="Arial"/>
              </a:rPr>
              <a:t>Do: </a:t>
            </a:r>
            <a:r>
              <a:rPr b="0" i="0" lang="en-US" sz="1650" u="none" cap="none" strike="noStrike">
                <a:solidFill>
                  <a:srgbClr val="1A1440"/>
                </a:solidFill>
                <a:latin typeface="Arial"/>
                <a:ea typeface="Arial"/>
                <a:cs typeface="Arial"/>
                <a:sym typeface="Arial"/>
              </a:rPr>
              <a:t>report and plan clinic and home separately from now on, and start recovery in the clinic channel, Jaipur (clinic −24.8%) and Chennai (−15.6%) first. Hold the offer budget until a holdout test shows who the offer reached.</a:t>
            </a:r>
            <a:endParaRPr/>
          </a:p>
          <a:p>
            <a:pPr indent="0" lvl="0" marL="0" marR="0" rtl="0" algn="l">
              <a:spcBef>
                <a:spcPts val="800"/>
              </a:spcBef>
              <a:spcAft>
                <a:spcPts val="0"/>
              </a:spcAft>
              <a:buNone/>
            </a:pPr>
            <a:r>
              <a:rPr b="1" i="0" lang="en-US" sz="1650" u="none" cap="none" strike="noStrike">
                <a:solidFill>
                  <a:srgbClr val="1A1440"/>
                </a:solidFill>
                <a:latin typeface="Arial"/>
                <a:ea typeface="Arial"/>
                <a:cs typeface="Arial"/>
                <a:sym typeface="Arial"/>
              </a:rPr>
              <a:t>It costs: </a:t>
            </a:r>
            <a:r>
              <a:rPr b="0" i="0" lang="en-US" sz="1650" u="none" cap="none" strike="noStrike">
                <a:solidFill>
                  <a:srgbClr val="1A1440"/>
                </a:solidFill>
                <a:latin typeface="Arial"/>
                <a:ea typeface="Arial"/>
                <a:cs typeface="Arial"/>
                <a:sym typeface="Arial"/>
              </a:rPr>
              <a:t>a four-week clinic review with the six city heads; a holdout skips the ₹150 waiver in a few catchments (the Q1 offer waived up to about ₹73.5 lakh across roughly 49,000 tagged bookings, to be verified).</a:t>
            </a:r>
            <a:endParaRPr/>
          </a:p>
          <a:p>
            <a:pPr indent="0" lvl="0" marL="0" marR="0" rtl="0" algn="l">
              <a:spcBef>
                <a:spcPts val="800"/>
              </a:spcBef>
              <a:spcAft>
                <a:spcPts val="0"/>
              </a:spcAft>
              <a:buNone/>
            </a:pPr>
            <a:r>
              <a:rPr b="1" i="0" lang="en-US" sz="1650" u="none" cap="none" strike="noStrike">
                <a:solidFill>
                  <a:srgbClr val="1A1440"/>
                </a:solidFill>
                <a:latin typeface="Arial"/>
                <a:ea typeface="Arial"/>
                <a:cs typeface="Arial"/>
                <a:sym typeface="Arial"/>
              </a:rPr>
              <a:t>If we are wrong, it costs: </a:t>
            </a:r>
            <a:r>
              <a:rPr b="0" i="0" lang="en-US" sz="1650" u="none" cap="none" strike="noStrike">
                <a:solidFill>
                  <a:srgbClr val="1A1440"/>
                </a:solidFill>
                <a:latin typeface="Arial"/>
                <a:ea typeface="Arial"/>
                <a:cs typeface="Arial"/>
                <a:sym typeface="Arial"/>
              </a:rPr>
              <a:t>if the clinic loss is real and we wait a half-year, about 34,014 clinic tests (about ₹2.3 crore at ₹689 a test) stay lost. If the offer was creating real new demand and we pull it, we give up part of 55,814 extra home tests a half.</a:t>
            </a:r>
            <a:endParaRPr/>
          </a:p>
          <a:p>
            <a:pPr indent="0" lvl="0" marL="0" marR="0" rtl="0" algn="l">
              <a:spcBef>
                <a:spcPts val="800"/>
              </a:spcBef>
              <a:spcAft>
                <a:spcPts val="0"/>
              </a:spcAft>
              <a:buNone/>
            </a:pPr>
            <a:r>
              <a:t/>
            </a:r>
            <a:endParaRPr b="0" i="0" sz="1650" u="none" cap="none" strike="noStrike">
              <a:solidFill>
                <a:srgbClr val="1A1440"/>
              </a:solidFill>
              <a:latin typeface="Arial"/>
              <a:ea typeface="Arial"/>
              <a:cs typeface="Arial"/>
              <a:sym typeface="Arial"/>
            </a:endParaRPr>
          </a:p>
          <a:p>
            <a:pPr indent="0" lvl="0" marL="0" marR="0" rtl="0" algn="l">
              <a:spcBef>
                <a:spcPts val="800"/>
              </a:spcBef>
              <a:spcAft>
                <a:spcPts val="0"/>
              </a:spcAft>
              <a:buNone/>
            </a:pPr>
            <a:r>
              <a:rPr b="1" i="0" lang="en-US" sz="1650" u="none" cap="none" strike="noStrike">
                <a:solidFill>
                  <a:srgbClr val="1A1440"/>
                </a:solidFill>
                <a:latin typeface="Arial"/>
                <a:ea typeface="Arial"/>
                <a:cs typeface="Arial"/>
                <a:sym typeface="Arial"/>
              </a:rPr>
              <a:t>What we would do with two more days: </a:t>
            </a:r>
            <a:r>
              <a:rPr b="0" i="0" lang="en-US" sz="1650" u="none" cap="none" strike="noStrike">
                <a:solidFill>
                  <a:srgbClr val="1A1440"/>
                </a:solidFill>
                <a:latin typeface="Arial"/>
                <a:ea typeface="Arial"/>
                <a:cs typeface="Arial"/>
                <a:sym typeface="Arial"/>
              </a:rPr>
              <a:t>test who used the offer (did they come from our own clinics?) and check the channel shift against the collections app.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p:nvPr/>
        </p:nvSpPr>
        <p:spPr>
          <a:xfrm>
            <a:off x="0" y="0"/>
            <a:ext cx="12191695" cy="6858000"/>
          </a:xfrm>
          <a:prstGeom prst="roundRect">
            <a:avLst>
              <a:gd fmla="val 8000" name="adj"/>
            </a:avLst>
          </a:prstGeom>
          <a:solidFill>
            <a:srgbClr val="1A0F5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21"/>
          <p:cNvSpPr txBox="1"/>
          <p:nvPr/>
        </p:nvSpPr>
        <p:spPr>
          <a:xfrm>
            <a:off x="548640" y="2560320"/>
            <a:ext cx="10972800" cy="10972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Georgia"/>
                <a:ea typeface="Georgia"/>
                <a:cs typeface="Georgia"/>
                <a:sym typeface="Georgia"/>
              </a:rPr>
              <a:t>Questions</a:t>
            </a:r>
            <a:endParaRPr/>
          </a:p>
        </p:txBody>
      </p:sp>
      <p:sp>
        <p:nvSpPr>
          <p:cNvPr id="200" name="Google Shape;200;p21"/>
          <p:cNvSpPr txBox="1"/>
          <p:nvPr/>
        </p:nvSpPr>
        <p:spPr>
          <a:xfrm>
            <a:off x="548640" y="3657600"/>
            <a:ext cx="10058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DCD6F7"/>
                </a:solidFill>
                <a:latin typeface="Arial"/>
                <a:ea typeface="Arial"/>
                <a:cs typeface="Arial"/>
                <a:sym typeface="Arial"/>
              </a:rPr>
              <a:t>The approach log, the decisions log and the challenges log are open in the repository: </a:t>
            </a:r>
            <a:r>
              <a:rPr lang="en-US" sz="1600" u="sng">
                <a:solidFill>
                  <a:schemeClr val="hlink"/>
                </a:solidFill>
                <a:hlinkClick r:id="rId3"/>
              </a:rPr>
              <a:t>https://github.com/Aditya-Kumar-Sharma/c2-build1-brief-a-group-09</a:t>
            </a:r>
            <a:endParaRPr sz="1600">
              <a:solidFill>
                <a:srgbClr val="DCD6F7"/>
              </a:solidFill>
            </a:endParaRPr>
          </a:p>
          <a:p>
            <a:pPr indent="0" lvl="0" marL="0" marR="0" rtl="0" algn="l">
              <a:spcBef>
                <a:spcPts val="0"/>
              </a:spcBef>
              <a:spcAft>
                <a:spcPts val="0"/>
              </a:spcAft>
              <a:buNone/>
            </a:pPr>
            <a:r>
              <a:t/>
            </a:r>
            <a:endParaRPr sz="1600">
              <a:solidFill>
                <a:srgbClr val="DCD6F7"/>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2"/>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APPENDIX A</a:t>
            </a:r>
            <a:endParaRPr/>
          </a:p>
        </p:txBody>
      </p:sp>
      <p:sp>
        <p:nvSpPr>
          <p:cNvPr id="208" name="Google Shape;208;p22"/>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7 / 10</a:t>
            </a:r>
            <a:endParaRPr/>
          </a:p>
        </p:txBody>
      </p:sp>
      <p:pic>
        <p:nvPicPr>
          <p:cNvPr descr="iitgn_seal.png" id="209" name="Google Shape;209;p22"/>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210" name="Google Shape;210;p22"/>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211" name="Google Shape;211;p22"/>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A1440"/>
                </a:solidFill>
                <a:latin typeface="Georgia"/>
                <a:ea typeface="Georgia"/>
                <a:cs typeface="Georgia"/>
                <a:sym typeface="Georgia"/>
              </a:rPr>
              <a:t>Appendix A · The decisions that moved the headline</a:t>
            </a:r>
            <a:endParaRPr/>
          </a:p>
        </p:txBody>
      </p:sp>
      <p:sp>
        <p:nvSpPr>
          <p:cNvPr id="212" name="Google Shape;212;p22"/>
          <p:cNvSpPr txBox="1"/>
          <p:nvPr/>
        </p:nvSpPr>
        <p:spPr>
          <a:xfrm>
            <a:off x="457200" y="1645920"/>
            <a:ext cx="1124712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440"/>
                </a:solidFill>
                <a:latin typeface="Arial"/>
                <a:ea typeface="Arial"/>
                <a:cs typeface="Arial"/>
                <a:sym typeface="Arial"/>
              </a:rPr>
              <a:t>Rule 1: </a:t>
            </a:r>
            <a:r>
              <a:rPr b="0" i="0" lang="en-US" sz="1500" u="none" cap="none" strike="noStrike">
                <a:solidFill>
                  <a:srgbClr val="1A1440"/>
                </a:solidFill>
                <a:latin typeface="Arial"/>
                <a:ea typeface="Arial"/>
                <a:cs typeface="Arial"/>
                <a:sym typeface="Arial"/>
              </a:rPr>
              <a:t>count booking-test rows from the bookings table (1,309,199 rows loaded, all 18 months). The results table gives +4.98% against +5.01% and covers 81.6% of rows, so it was not used.</a:t>
            </a:r>
            <a:endParaRPr/>
          </a:p>
          <a:p>
            <a:pPr indent="0" lvl="0" marL="0" marR="0" rtl="0" algn="l">
              <a:spcBef>
                <a:spcPts val="600"/>
              </a:spcBef>
              <a:spcAft>
                <a:spcPts val="0"/>
              </a:spcAft>
              <a:buNone/>
            </a:pPr>
            <a:r>
              <a:rPr b="1" i="0" lang="en-US" sz="1500" u="none" cap="none" strike="noStrike">
                <a:solidFill>
                  <a:srgbClr val="1A1440"/>
                </a:solidFill>
                <a:latin typeface="Arial"/>
                <a:ea typeface="Arial"/>
                <a:cs typeface="Arial"/>
                <a:sym typeface="Arial"/>
              </a:rPr>
              <a:t>Rule 2: </a:t>
            </a:r>
            <a:r>
              <a:rPr b="0" i="0" lang="en-US" sz="1500" u="none" cap="none" strike="noStrike">
                <a:solidFill>
                  <a:srgbClr val="1A1440"/>
                </a:solidFill>
                <a:latin typeface="Arial"/>
                <a:ea typeface="Arial"/>
                <a:cs typeface="Arial"/>
                <a:sym typeface="Arial"/>
              </a:rPr>
              <a:t>nova rescheduled originals removed before stacking: one visit, one booking (legacy overwrote in place). Rows removed and effect: see docs/decisions-log.md.</a:t>
            </a:r>
            <a:endParaRPr/>
          </a:p>
          <a:p>
            <a:pPr indent="0" lvl="0" marL="0" marR="0" rtl="0" algn="l">
              <a:spcBef>
                <a:spcPts val="600"/>
              </a:spcBef>
              <a:spcAft>
                <a:spcPts val="0"/>
              </a:spcAft>
              <a:buNone/>
            </a:pPr>
            <a:r>
              <a:rPr b="1" i="0" lang="en-US" sz="1500" u="none" cap="none" strike="noStrike">
                <a:solidFill>
                  <a:srgbClr val="1A1440"/>
                </a:solidFill>
                <a:latin typeface="Arial"/>
                <a:ea typeface="Arial"/>
                <a:cs typeface="Arial"/>
                <a:sym typeface="Arial"/>
              </a:rPr>
              <a:t>Rule 3: </a:t>
            </a:r>
            <a:r>
              <a:rPr b="0" i="0" lang="en-US" sz="1500" u="none" cap="none" strike="noStrike">
                <a:solidFill>
                  <a:srgbClr val="1A1440"/>
                </a:solidFill>
                <a:latin typeface="Arial"/>
                <a:ea typeface="Arial"/>
                <a:cs typeface="Arial"/>
                <a:sym typeface="Arial"/>
              </a:rPr>
              <a:t>patient ids merged into people by phone + name: 6,064 of 309,217 ids (2.0%). Effect on people in H1: none (94,477 and 98,025 unchanged).</a:t>
            </a:r>
            <a:endParaRPr/>
          </a:p>
          <a:p>
            <a:pPr indent="0" lvl="0" marL="0" marR="0" rtl="0" algn="l">
              <a:spcBef>
                <a:spcPts val="600"/>
              </a:spcBef>
              <a:spcAft>
                <a:spcPts val="0"/>
              </a:spcAft>
              <a:buNone/>
            </a:pPr>
            <a:r>
              <a:t/>
            </a:r>
            <a:endParaRPr b="0" i="0" sz="1500" u="none" cap="none" strike="noStrike">
              <a:solidFill>
                <a:srgbClr val="1A1440"/>
              </a:solidFill>
              <a:latin typeface="Arial"/>
              <a:ea typeface="Arial"/>
              <a:cs typeface="Arial"/>
              <a:sym typeface="Arial"/>
            </a:endParaRPr>
          </a:p>
          <a:p>
            <a:pPr indent="0" lvl="0" marL="0" marR="0" rtl="0" algn="l">
              <a:spcBef>
                <a:spcPts val="600"/>
              </a:spcBef>
              <a:spcAft>
                <a:spcPts val="0"/>
              </a:spcAft>
              <a:buNone/>
            </a:pPr>
            <a:r>
              <a:rPr b="0" i="0" lang="en-US" sz="1500" u="none" cap="none" strike="noStrike">
                <a:solidFill>
                  <a:srgbClr val="1A1440"/>
                </a:solidFill>
                <a:latin typeface="Arial"/>
                <a:ea typeface="Arial"/>
                <a:cs typeface="Arial"/>
                <a:sym typeface="Arial"/>
              </a:rPr>
              <a:t>Every other rule is in docs/decisions-log.md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3"/>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APPENDIX B</a:t>
            </a:r>
            <a:endParaRPr/>
          </a:p>
        </p:txBody>
      </p:sp>
      <p:sp>
        <p:nvSpPr>
          <p:cNvPr id="220" name="Google Shape;220;p23"/>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8 / 10</a:t>
            </a:r>
            <a:endParaRPr/>
          </a:p>
        </p:txBody>
      </p:sp>
      <p:pic>
        <p:nvPicPr>
          <p:cNvPr descr="iitgn_seal.png" id="221" name="Google Shape;221;p23"/>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222" name="Google Shape;222;p23"/>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223" name="Google Shape;223;p23"/>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A1440"/>
                </a:solidFill>
                <a:latin typeface="Georgia"/>
                <a:ea typeface="Georgia"/>
                <a:cs typeface="Georgia"/>
                <a:sym typeface="Georgia"/>
              </a:rPr>
              <a:t>Appendix B · The cold run</a:t>
            </a:r>
            <a:endParaRPr/>
          </a:p>
        </p:txBody>
      </p:sp>
      <p:sp>
        <p:nvSpPr>
          <p:cNvPr id="224" name="Google Shape;224;p23"/>
          <p:cNvSpPr txBox="1"/>
          <p:nvPr/>
        </p:nvSpPr>
        <p:spPr>
          <a:xfrm>
            <a:off x="457200" y="1645920"/>
            <a:ext cx="11247000" cy="68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1A1440"/>
                </a:solidFill>
                <a:latin typeface="Arial"/>
                <a:ea typeface="Arial"/>
                <a:cs typeface="Arial"/>
                <a:sym typeface="Arial"/>
              </a:rPr>
              <a:t>Fresh Codespace, date: to fill after the cold run, run by a member who did not write the notebooks</a:t>
            </a:r>
            <a:endParaRPr/>
          </a:p>
          <a:p>
            <a:pPr indent="0" lvl="0" marL="0" marR="0" rtl="0" algn="l">
              <a:spcBef>
                <a:spcPts val="800"/>
              </a:spcBef>
              <a:spcAft>
                <a:spcPts val="0"/>
              </a:spcAft>
              <a:buNone/>
            </a:pPr>
            <a:r>
              <a:rPr b="0" i="0" lang="en-US" sz="1600" u="none" cap="none" strike="noStrike">
                <a:solidFill>
                  <a:srgbClr val="1A1440"/>
                </a:solidFill>
                <a:latin typeface="Arial"/>
                <a:ea typeface="Arial"/>
                <a:cs typeface="Arial"/>
                <a:sym typeface="Arial"/>
              </a:rPr>
              <a:t>Headline, latest run: +5.0%, 457,230 of 435,430 tests, identical to slide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4"/>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APPENDIX C</a:t>
            </a:r>
            <a:endParaRPr/>
          </a:p>
        </p:txBody>
      </p:sp>
      <p:sp>
        <p:nvSpPr>
          <p:cNvPr id="232" name="Google Shape;232;p24"/>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9 / 10</a:t>
            </a:r>
            <a:endParaRPr/>
          </a:p>
        </p:txBody>
      </p:sp>
      <p:pic>
        <p:nvPicPr>
          <p:cNvPr descr="image.png" id="233" name="Google Shape;233;p24"/>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234" name="Google Shape;234;p24"/>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235" name="Google Shape;235;p24"/>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A1440"/>
                </a:solidFill>
                <a:latin typeface="Georgia"/>
                <a:ea typeface="Georgia"/>
                <a:cs typeface="Georgia"/>
                <a:sym typeface="Georgia"/>
              </a:rPr>
              <a:t>Appendix C · The free home collection window</a:t>
            </a:r>
            <a:endParaRPr/>
          </a:p>
        </p:txBody>
      </p:sp>
      <p:sp>
        <p:nvSpPr>
          <p:cNvPr id="236" name="Google Shape;236;p24"/>
          <p:cNvSpPr txBox="1"/>
          <p:nvPr/>
        </p:nvSpPr>
        <p:spPr>
          <a:xfrm>
            <a:off x="7589520" y="1645920"/>
            <a:ext cx="4114800" cy="43891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A1440"/>
                </a:solidFill>
                <a:latin typeface="Arial"/>
                <a:ea typeface="Arial"/>
                <a:cs typeface="Arial"/>
                <a:sym typeface="Arial"/>
              </a:rPr>
              <a:t>Offer quarter (Jan to Mar): </a:t>
            </a:r>
            <a:r>
              <a:rPr b="0" i="0" lang="en-US" sz="1300" u="none" cap="none" strike="noStrike">
                <a:solidFill>
                  <a:srgbClr val="1A1440"/>
                </a:solidFill>
                <a:latin typeface="Arial"/>
                <a:ea typeface="Arial"/>
                <a:cs typeface="Arial"/>
                <a:sym typeface="Arial"/>
              </a:rPr>
              <a:t>home +52.5%, clinic −18.1%, network +6.0% vs the same months of 2025.</a:t>
            </a:r>
            <a:endParaRPr/>
          </a:p>
          <a:p>
            <a:pPr indent="0" lvl="0" marL="0" marR="0" rtl="0" algn="l">
              <a:spcBef>
                <a:spcPts val="700"/>
              </a:spcBef>
              <a:spcAft>
                <a:spcPts val="0"/>
              </a:spcAft>
              <a:buNone/>
            </a:pPr>
            <a:r>
              <a:rPr b="1" i="0" lang="en-US" sz="1300" u="none" cap="none" strike="noStrike">
                <a:solidFill>
                  <a:srgbClr val="1A1440"/>
                </a:solidFill>
                <a:latin typeface="Arial"/>
                <a:ea typeface="Arial"/>
                <a:cs typeface="Arial"/>
                <a:sym typeface="Arial"/>
              </a:rPr>
              <a:t>After it (Apr to Jun): </a:t>
            </a:r>
            <a:r>
              <a:rPr b="0" i="0" lang="en-US" sz="1300" u="none" cap="none" strike="noStrike">
                <a:solidFill>
                  <a:srgbClr val="1A1440"/>
                </a:solidFill>
                <a:latin typeface="Arial"/>
                <a:ea typeface="Arial"/>
                <a:cs typeface="Arial"/>
                <a:sym typeface="Arial"/>
              </a:rPr>
              <a:t>home +22.2%, clinic −5.4%, network +4.0%.</a:t>
            </a:r>
            <a:endParaRPr/>
          </a:p>
          <a:p>
            <a:pPr indent="0" lvl="0" marL="0" marR="0" rtl="0" algn="l">
              <a:spcBef>
                <a:spcPts val="700"/>
              </a:spcBef>
              <a:spcAft>
                <a:spcPts val="0"/>
              </a:spcAft>
              <a:buNone/>
            </a:pPr>
            <a:r>
              <a:rPr b="1" i="0" lang="en-US" sz="1300" u="none" cap="none" strike="noStrike">
                <a:solidFill>
                  <a:srgbClr val="1A1440"/>
                </a:solidFill>
                <a:latin typeface="Arial"/>
                <a:ea typeface="Arial"/>
                <a:cs typeface="Arial"/>
                <a:sym typeface="Arial"/>
              </a:rPr>
              <a:t>Read: </a:t>
            </a:r>
            <a:r>
              <a:rPr b="0" i="0" lang="en-US" sz="1300" u="none" cap="none" strike="noStrike">
                <a:solidFill>
                  <a:srgbClr val="1A1440"/>
                </a:solidFill>
                <a:latin typeface="Arial"/>
                <a:ea typeface="Arial"/>
                <a:cs typeface="Arial"/>
                <a:sym typeface="Arial"/>
              </a:rPr>
              <a:t>the offer's footprint is a shift between channels. Network growth in the offer quarter ran only about 2 points above the quarter after.</a:t>
            </a:r>
            <a:endParaRPr/>
          </a:p>
          <a:p>
            <a:pPr indent="0" lvl="0" marL="0" marR="0" rtl="0" algn="l">
              <a:spcBef>
                <a:spcPts val="700"/>
              </a:spcBef>
              <a:spcAft>
                <a:spcPts val="0"/>
              </a:spcAft>
              <a:buNone/>
            </a:pPr>
            <a:r>
              <a:rPr b="1" i="0" lang="en-US" sz="1300" u="none" cap="none" strike="noStrike">
                <a:solidFill>
                  <a:srgbClr val="1A1440"/>
                </a:solidFill>
                <a:latin typeface="Arial"/>
                <a:ea typeface="Arial"/>
                <a:cs typeface="Arial"/>
                <a:sym typeface="Arial"/>
              </a:rPr>
              <a:t>Not proof of cause: </a:t>
            </a:r>
            <a:r>
              <a:rPr b="0" i="0" lang="en-US" sz="1300" u="none" cap="none" strike="noStrike">
                <a:solidFill>
                  <a:srgbClr val="1A1440"/>
                </a:solidFill>
                <a:latin typeface="Arial"/>
                <a:ea typeface="Arial"/>
                <a:cs typeface="Arial"/>
                <a:sym typeface="Arial"/>
              </a:rPr>
              <a:t>no control group, and who used the offer is not yet tested.</a:t>
            </a:r>
            <a:endParaRPr/>
          </a:p>
        </p:txBody>
      </p:sp>
      <p:pic>
        <p:nvPicPr>
          <p:cNvPr descr="appendix_offer.png" id="237" name="Google Shape;237;p24"/>
          <p:cNvPicPr preferRelativeResize="0"/>
          <p:nvPr/>
        </p:nvPicPr>
        <p:blipFill rotWithShape="1">
          <a:blip r:embed="rId4">
            <a:alphaModFix/>
          </a:blip>
          <a:srcRect b="0" l="0" r="0" t="0"/>
          <a:stretch/>
        </p:blipFill>
        <p:spPr>
          <a:xfrm>
            <a:off x="457199" y="1783079"/>
            <a:ext cx="6949440" cy="40233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p:nvPr/>
        </p:nvSpPr>
        <p:spPr>
          <a:xfrm>
            <a:off x="0" y="0"/>
            <a:ext cx="12191695" cy="73152"/>
          </a:xfrm>
          <a:prstGeom prst="roundRect">
            <a:avLst>
              <a:gd fmla="val 8000" name="adj"/>
            </a:avLst>
          </a:prstGeom>
          <a:solidFill>
            <a:srgbClr val="4E38A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5"/>
          <p:cNvSpPr txBox="1"/>
          <p:nvPr/>
        </p:nvSpPr>
        <p:spPr>
          <a:xfrm>
            <a:off x="457200" y="228600"/>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APPENDIX D</a:t>
            </a:r>
            <a:endParaRPr/>
          </a:p>
        </p:txBody>
      </p:sp>
      <p:sp>
        <p:nvSpPr>
          <p:cNvPr id="245" name="Google Shape;245;p25"/>
          <p:cNvSpPr txBox="1"/>
          <p:nvPr/>
        </p:nvSpPr>
        <p:spPr>
          <a:xfrm>
            <a:off x="10332720" y="228600"/>
            <a:ext cx="146304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10 / 10</a:t>
            </a:r>
            <a:endParaRPr/>
          </a:p>
        </p:txBody>
      </p:sp>
      <p:pic>
        <p:nvPicPr>
          <p:cNvPr descr="image.png" id="246" name="Google Shape;246;p25"/>
          <p:cNvPicPr preferRelativeResize="0"/>
          <p:nvPr/>
        </p:nvPicPr>
        <p:blipFill rotWithShape="1">
          <a:blip r:embed="rId3">
            <a:alphaModFix/>
          </a:blip>
          <a:srcRect b="0" l="0" r="0" t="0"/>
          <a:stretch/>
        </p:blipFill>
        <p:spPr>
          <a:xfrm>
            <a:off x="457200" y="6263640"/>
            <a:ext cx="411480" cy="411480"/>
          </a:xfrm>
          <a:prstGeom prst="rect">
            <a:avLst/>
          </a:prstGeom>
          <a:noFill/>
          <a:ln>
            <a:noFill/>
          </a:ln>
        </p:spPr>
      </p:pic>
      <p:sp>
        <p:nvSpPr>
          <p:cNvPr id="247" name="Google Shape;247;p25"/>
          <p:cNvSpPr txBox="1"/>
          <p:nvPr/>
        </p:nvSpPr>
        <p:spPr>
          <a:xfrm>
            <a:off x="960120" y="6309360"/>
            <a:ext cx="9144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248" name="Google Shape;248;p25"/>
          <p:cNvSpPr txBox="1"/>
          <p:nvPr/>
        </p:nvSpPr>
        <p:spPr>
          <a:xfrm>
            <a:off x="457200" y="640080"/>
            <a:ext cx="1124712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A1440"/>
                </a:solidFill>
                <a:latin typeface="Georgia"/>
                <a:ea typeface="Georgia"/>
                <a:cs typeface="Georgia"/>
                <a:sym typeface="Georgia"/>
              </a:rPr>
              <a:t>Appendix D · Where the 13.4 points sit</a:t>
            </a:r>
            <a:endParaRPr/>
          </a:p>
        </p:txBody>
      </p:sp>
      <p:sp>
        <p:nvSpPr>
          <p:cNvPr id="249" name="Google Shape;249;p25"/>
          <p:cNvSpPr txBox="1"/>
          <p:nvPr/>
        </p:nvSpPr>
        <p:spPr>
          <a:xfrm>
            <a:off x="457200" y="5669280"/>
            <a:ext cx="112471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A1440"/>
                </a:solidFill>
                <a:latin typeface="Arial"/>
                <a:ea typeface="Arial"/>
                <a:cs typeface="Arial"/>
                <a:sym typeface="Arial"/>
              </a:rPr>
              <a:t>The plan has no channel or source split, so each city's plan is spread over its channels and sources in last year's mix (an assumption). Home met or beat that share in every city; clinic missed it in all six.</a:t>
            </a:r>
            <a:endParaRPr/>
          </a:p>
        </p:txBody>
      </p:sp>
      <p:pic>
        <p:nvPicPr>
          <p:cNvPr descr="appendix_gap.png" id="250" name="Google Shape;250;p25"/>
          <p:cNvPicPr preferRelativeResize="0"/>
          <p:nvPr/>
        </p:nvPicPr>
        <p:blipFill rotWithShape="1">
          <a:blip r:embed="rId4">
            <a:alphaModFix/>
          </a:blip>
          <a:srcRect b="0" l="0" r="0" t="0"/>
          <a:stretch/>
        </p:blipFill>
        <p:spPr>
          <a:xfrm>
            <a:off x="457200" y="1714499"/>
            <a:ext cx="11247120" cy="37490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p:nvPr/>
        </p:nvSpPr>
        <p:spPr>
          <a:xfrm>
            <a:off x="0" y="0"/>
            <a:ext cx="12191700" cy="73200"/>
          </a:xfrm>
          <a:prstGeom prst="roundRect">
            <a:avLst>
              <a:gd fmla="val 8000" name="adj"/>
            </a:avLst>
          </a:prstGeom>
          <a:solidFill>
            <a:srgbClr val="4E38A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6"/>
          <p:cNvSpPr txBox="1"/>
          <p:nvPr/>
        </p:nvSpPr>
        <p:spPr>
          <a:xfrm>
            <a:off x="457200" y="228600"/>
            <a:ext cx="73152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4E38AB"/>
                </a:solidFill>
                <a:latin typeface="Arial"/>
                <a:ea typeface="Arial"/>
                <a:cs typeface="Arial"/>
                <a:sym typeface="Arial"/>
              </a:rPr>
              <a:t>APPENDIX D</a:t>
            </a:r>
            <a:endParaRPr/>
          </a:p>
        </p:txBody>
      </p:sp>
      <p:sp>
        <p:nvSpPr>
          <p:cNvPr id="258" name="Google Shape;258;p26"/>
          <p:cNvSpPr txBox="1"/>
          <p:nvPr/>
        </p:nvSpPr>
        <p:spPr>
          <a:xfrm>
            <a:off x="10332720" y="228600"/>
            <a:ext cx="1463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6B6690"/>
                </a:solidFill>
                <a:latin typeface="Arial"/>
                <a:ea typeface="Arial"/>
                <a:cs typeface="Arial"/>
                <a:sym typeface="Arial"/>
              </a:rPr>
              <a:t>10 / 10</a:t>
            </a:r>
            <a:endParaRPr/>
          </a:p>
        </p:txBody>
      </p:sp>
      <p:pic>
        <p:nvPicPr>
          <p:cNvPr descr="image.png" id="259" name="Google Shape;259;p26"/>
          <p:cNvPicPr preferRelativeResize="0"/>
          <p:nvPr/>
        </p:nvPicPr>
        <p:blipFill rotWithShape="1">
          <a:blip r:embed="rId3">
            <a:alphaModFix/>
          </a:blip>
          <a:srcRect b="0" l="0" r="0" t="0"/>
          <a:stretch/>
        </p:blipFill>
        <p:spPr>
          <a:xfrm>
            <a:off x="457200" y="6263640"/>
            <a:ext cx="411481" cy="411481"/>
          </a:xfrm>
          <a:prstGeom prst="rect">
            <a:avLst/>
          </a:prstGeom>
          <a:noFill/>
          <a:ln>
            <a:noFill/>
          </a:ln>
        </p:spPr>
      </p:pic>
      <p:sp>
        <p:nvSpPr>
          <p:cNvPr id="260" name="Google Shape;260;p26"/>
          <p:cNvSpPr txBox="1"/>
          <p:nvPr/>
        </p:nvSpPr>
        <p:spPr>
          <a:xfrm>
            <a:off x="960120" y="6309360"/>
            <a:ext cx="9144000" cy="21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6B6690"/>
                </a:solidFill>
                <a:latin typeface="Arial"/>
                <a:ea typeface="Arial"/>
                <a:cs typeface="Arial"/>
                <a:sym typeface="Arial"/>
              </a:rPr>
              <a:t>Indian Institute of Technology Gandhinagar · PG Diploma in AI-ML and Agentic AI Engineering · Cohort 2 · Build 1</a:t>
            </a:r>
            <a:endParaRPr/>
          </a:p>
        </p:txBody>
      </p:sp>
      <p:sp>
        <p:nvSpPr>
          <p:cNvPr id="261" name="Google Shape;261;p26"/>
          <p:cNvSpPr txBox="1"/>
          <p:nvPr/>
        </p:nvSpPr>
        <p:spPr>
          <a:xfrm>
            <a:off x="457200" y="640080"/>
            <a:ext cx="11247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A1440"/>
                </a:solidFill>
                <a:latin typeface="Georgia"/>
                <a:ea typeface="Georgia"/>
                <a:cs typeface="Georgia"/>
                <a:sym typeface="Georgia"/>
              </a:rPr>
              <a:t>Appendix </a:t>
            </a:r>
            <a:r>
              <a:rPr b="1" lang="en-US" sz="2400">
                <a:solidFill>
                  <a:srgbClr val="1A1440"/>
                </a:solidFill>
                <a:latin typeface="Georgia"/>
                <a:ea typeface="Georgia"/>
                <a:cs typeface="Georgia"/>
                <a:sym typeface="Georgia"/>
              </a:rPr>
              <a:t>E</a:t>
            </a:r>
            <a:r>
              <a:rPr b="1" i="0" lang="en-US" sz="2400" u="none" cap="none" strike="noStrike">
                <a:solidFill>
                  <a:srgbClr val="1A1440"/>
                </a:solidFill>
                <a:latin typeface="Georgia"/>
                <a:ea typeface="Georgia"/>
                <a:cs typeface="Georgia"/>
                <a:sym typeface="Georgia"/>
              </a:rPr>
              <a:t> · Where the 13.4 points sit</a:t>
            </a:r>
            <a:endParaRPr/>
          </a:p>
        </p:txBody>
      </p:sp>
      <p:pic>
        <p:nvPicPr>
          <p:cNvPr id="262" name="Google Shape;262;p26"/>
          <p:cNvPicPr preferRelativeResize="0"/>
          <p:nvPr/>
        </p:nvPicPr>
        <p:blipFill>
          <a:blip r:embed="rId4">
            <a:alphaModFix/>
          </a:blip>
          <a:stretch>
            <a:fillRect/>
          </a:stretch>
        </p:blipFill>
        <p:spPr>
          <a:xfrm>
            <a:off x="2963869" y="1254180"/>
            <a:ext cx="6233657" cy="49027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27"/>
          <p:cNvPicPr preferRelativeResize="0"/>
          <p:nvPr/>
        </p:nvPicPr>
        <p:blipFill>
          <a:blip r:embed="rId3">
            <a:alphaModFix/>
          </a:blip>
          <a:stretch>
            <a:fillRect/>
          </a:stretch>
        </p:blipFill>
        <p:spPr>
          <a:xfrm>
            <a:off x="2227675" y="331325"/>
            <a:ext cx="7353275" cy="58826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